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94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84" r:id="rId11"/>
    <p:sldId id="286" r:id="rId12"/>
    <p:sldId id="285" r:id="rId13"/>
    <p:sldId id="257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58" r:id="rId24"/>
    <p:sldId id="259" r:id="rId25"/>
    <p:sldId id="260" r:id="rId26"/>
    <p:sldId id="261" r:id="rId27"/>
    <p:sldId id="262" r:id="rId28"/>
    <p:sldId id="263" r:id="rId29"/>
    <p:sldId id="266" r:id="rId30"/>
    <p:sldId id="264" r:id="rId31"/>
    <p:sldId id="265" r:id="rId32"/>
    <p:sldId id="267" r:id="rId33"/>
    <p:sldId id="268" r:id="rId34"/>
    <p:sldId id="269" r:id="rId35"/>
    <p:sldId id="271" r:id="rId36"/>
    <p:sldId id="270" r:id="rId37"/>
    <p:sldId id="272" r:id="rId38"/>
    <p:sldId id="273" r:id="rId39"/>
    <p:sldId id="27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44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593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79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027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11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41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52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92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07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1137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95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369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38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925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09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658678-6647-49A7-B0FC-2877AA634955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09F2AD8-684B-4E5A-9672-64C63ED557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893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501C-A225-3064-DC8C-32BF09AB0A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Computer Networks</a:t>
            </a:r>
            <a:br>
              <a:rPr lang="en-IN" dirty="0"/>
            </a:br>
            <a:r>
              <a:rPr lang="en-IN" dirty="0"/>
              <a:t>IPv4 &amp; TCP – Conceptual</a:t>
            </a:r>
            <a:br>
              <a:rPr lang="en-IN" dirty="0"/>
            </a:br>
            <a:r>
              <a:rPr lang="en-IN" dirty="0"/>
              <a:t>Teaching Demo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47DB9-B88C-88CB-0892-ABC1625F6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9363" y="3785660"/>
            <a:ext cx="7766936" cy="1096899"/>
          </a:xfrm>
        </p:spPr>
        <p:txBody>
          <a:bodyPr>
            <a:normAutofit/>
          </a:bodyPr>
          <a:lstStyle/>
          <a:p>
            <a:r>
              <a:rPr lang="en-IN" sz="3200" dirty="0"/>
              <a:t>Presented By :Akhilesh Bhoria</a:t>
            </a:r>
          </a:p>
        </p:txBody>
      </p:sp>
    </p:spTree>
    <p:extLst>
      <p:ext uri="{BB962C8B-B14F-4D97-AF65-F5344CB8AC3E}">
        <p14:creationId xmlns:p14="http://schemas.microsoft.com/office/powerpoint/2010/main" val="353826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9DEC6D-A628-903D-E92B-043F345AAB0E}"/>
              </a:ext>
            </a:extLst>
          </p:cNvPr>
          <p:cNvSpPr txBox="1"/>
          <p:nvPr/>
        </p:nvSpPr>
        <p:spPr>
          <a:xfrm>
            <a:off x="2734056" y="548640"/>
            <a:ext cx="50289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chemeClr val="accent1"/>
                </a:solidFill>
              </a:rPr>
              <a:t>Lecture </a:t>
            </a:r>
            <a:r>
              <a:rPr lang="en-IN" sz="4800" b="1" dirty="0">
                <a:solidFill>
                  <a:schemeClr val="accent1"/>
                </a:solidFill>
              </a:rPr>
              <a:t>Roadmap</a:t>
            </a:r>
            <a:endParaRPr lang="en-IN" sz="4400" b="1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03F4C-B995-A8BC-A3A4-A24F518FFBD2}"/>
              </a:ext>
            </a:extLst>
          </p:cNvPr>
          <p:cNvSpPr txBox="1"/>
          <p:nvPr/>
        </p:nvSpPr>
        <p:spPr>
          <a:xfrm>
            <a:off x="877824" y="1938528"/>
            <a:ext cx="675325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800" dirty="0"/>
              <a:t>IPv4 Addressing Basics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800" dirty="0"/>
              <a:t>Classful Addressing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800" dirty="0"/>
              <a:t>Types of Communication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800" dirty="0"/>
              <a:t>IPv4 Header Overview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800" dirty="0"/>
              <a:t>TCP Working(Handshake, Flow Control)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93488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A61FF-5CED-A5A1-B3FA-C4ED61D9D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609600"/>
            <a:ext cx="8827688" cy="1320800"/>
          </a:xfrm>
        </p:spPr>
        <p:txBody>
          <a:bodyPr/>
          <a:lstStyle/>
          <a:p>
            <a:r>
              <a:rPr lang="en-IN" b="1" dirty="0"/>
              <a:t>IPv4 Addressing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D2EE2-AB4A-DD9F-8FAA-8CA27CEB832E}"/>
              </a:ext>
            </a:extLst>
          </p:cNvPr>
          <p:cNvSpPr txBox="1"/>
          <p:nvPr/>
        </p:nvSpPr>
        <p:spPr>
          <a:xfrm>
            <a:off x="446314" y="1611086"/>
            <a:ext cx="8273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Ipv4 address is 32 bit </a:t>
            </a:r>
          </a:p>
          <a:p>
            <a:r>
              <a:rPr lang="en-IN" dirty="0"/>
              <a:t>Initially in 1980’s IP address was divided into two fixed parts that is </a:t>
            </a:r>
          </a:p>
          <a:p>
            <a:pPr marL="342900" indent="-342900">
              <a:buAutoNum type="arabicPeriod"/>
            </a:pPr>
            <a:r>
              <a:rPr lang="en-IN" dirty="0"/>
              <a:t>Network ID</a:t>
            </a:r>
          </a:p>
          <a:p>
            <a:pPr marL="342900" indent="-342900">
              <a:buAutoNum type="arabicPeriod"/>
            </a:pPr>
            <a:r>
              <a:rPr lang="en-IN" dirty="0"/>
              <a:t>Host ID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0DE974-F2E8-B857-B999-D536646725BD}"/>
              </a:ext>
            </a:extLst>
          </p:cNvPr>
          <p:cNvSpPr/>
          <p:nvPr/>
        </p:nvSpPr>
        <p:spPr>
          <a:xfrm>
            <a:off x="1970314" y="2830286"/>
            <a:ext cx="4778829" cy="827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       8 Bit                            24 bit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1F1391-FF89-93C4-314F-E66C1B821AEC}"/>
              </a:ext>
            </a:extLst>
          </p:cNvPr>
          <p:cNvCxnSpPr>
            <a:endCxn id="5" idx="2"/>
          </p:cNvCxnSpPr>
          <p:nvPr/>
        </p:nvCxnSpPr>
        <p:spPr>
          <a:xfrm>
            <a:off x="4354286" y="2830286"/>
            <a:ext cx="5443" cy="827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DC30B5B-DBF9-809D-3905-50428B394DAA}"/>
              </a:ext>
            </a:extLst>
          </p:cNvPr>
          <p:cNvSpPr txBox="1"/>
          <p:nvPr/>
        </p:nvSpPr>
        <p:spPr>
          <a:xfrm>
            <a:off x="1970314" y="3657600"/>
            <a:ext cx="238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Network 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5186FC-E601-EBE1-7696-A24F20EB8A87}"/>
              </a:ext>
            </a:extLst>
          </p:cNvPr>
          <p:cNvSpPr txBox="1"/>
          <p:nvPr/>
        </p:nvSpPr>
        <p:spPr>
          <a:xfrm>
            <a:off x="4354286" y="3657600"/>
            <a:ext cx="2394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Host Id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3970C6E-A57B-EBB1-44E7-80502800170F}"/>
              </a:ext>
            </a:extLst>
          </p:cNvPr>
          <p:cNvCxnSpPr/>
          <p:nvPr/>
        </p:nvCxnSpPr>
        <p:spPr>
          <a:xfrm>
            <a:off x="1970314" y="3657600"/>
            <a:ext cx="0" cy="1077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CCE17AC-A1F3-F835-64F5-7E9AA1716777}"/>
              </a:ext>
            </a:extLst>
          </p:cNvPr>
          <p:cNvCxnSpPr/>
          <p:nvPr/>
        </p:nvCxnSpPr>
        <p:spPr>
          <a:xfrm>
            <a:off x="6357257" y="3657600"/>
            <a:ext cx="0" cy="1077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DDD4AA1-9D20-1953-65AE-64A4E39799E7}"/>
              </a:ext>
            </a:extLst>
          </p:cNvPr>
          <p:cNvSpPr/>
          <p:nvPr/>
        </p:nvSpPr>
        <p:spPr>
          <a:xfrm>
            <a:off x="1208314" y="4735286"/>
            <a:ext cx="2656114" cy="511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2^8 Networks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31F405-2888-F414-64B9-ED656978B331}"/>
              </a:ext>
            </a:extLst>
          </p:cNvPr>
          <p:cNvSpPr/>
          <p:nvPr/>
        </p:nvSpPr>
        <p:spPr>
          <a:xfrm>
            <a:off x="5040086" y="4735286"/>
            <a:ext cx="2656114" cy="511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2^24 Networks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8B19F7-FCEB-46F3-0715-342BB6995CDF}"/>
              </a:ext>
            </a:extLst>
          </p:cNvPr>
          <p:cNvSpPr txBox="1"/>
          <p:nvPr/>
        </p:nvSpPr>
        <p:spPr>
          <a:xfrm>
            <a:off x="446314" y="5246914"/>
            <a:ext cx="827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are 256 Networks and to buy one network </a:t>
            </a:r>
            <a:r>
              <a:rPr lang="en-IN" dirty="0" err="1"/>
              <a:t>aswell</a:t>
            </a:r>
            <a:r>
              <a:rPr lang="en-IN" dirty="0"/>
              <a:t> even a small organization much buy 16M (2^24) computers , which is very big number ,</a:t>
            </a:r>
          </a:p>
          <a:p>
            <a:r>
              <a:rPr lang="en-IN" dirty="0"/>
              <a:t>So, the Solution is </a:t>
            </a:r>
            <a:r>
              <a:rPr lang="en-IN" dirty="0" err="1"/>
              <a:t>Classfull</a:t>
            </a:r>
            <a:r>
              <a:rPr lang="en-IN" dirty="0"/>
              <a:t> Addressing</a:t>
            </a:r>
          </a:p>
        </p:txBody>
      </p:sp>
    </p:spTree>
    <p:extLst>
      <p:ext uri="{BB962C8B-B14F-4D97-AF65-F5344CB8AC3E}">
        <p14:creationId xmlns:p14="http://schemas.microsoft.com/office/powerpoint/2010/main" val="263464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119BC-0A8F-7EF1-0BF3-6FAA21EC7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20486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Classfull</a:t>
            </a:r>
            <a:r>
              <a:rPr lang="en-IN" dirty="0"/>
              <a:t> Addressing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1985DD-E3AC-222A-DE48-63F73E6A1F42}"/>
              </a:ext>
            </a:extLst>
          </p:cNvPr>
          <p:cNvSpPr txBox="1"/>
          <p:nvPr/>
        </p:nvSpPr>
        <p:spPr>
          <a:xfrm>
            <a:off x="768095" y="751114"/>
            <a:ext cx="89637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32 bit IP Address is divided into 5 classes in the </a:t>
            </a:r>
            <a:r>
              <a:rPr lang="en-IN" dirty="0" err="1"/>
              <a:t>Classfull</a:t>
            </a:r>
            <a:r>
              <a:rPr lang="en-IN" dirty="0"/>
              <a:t> </a:t>
            </a:r>
            <a:r>
              <a:rPr lang="en-IN" dirty="0" err="1"/>
              <a:t>Adressing</a:t>
            </a:r>
            <a:r>
              <a:rPr lang="en-IN" dirty="0"/>
              <a:t> </a:t>
            </a:r>
          </a:p>
          <a:p>
            <a:r>
              <a:rPr lang="en-IN" dirty="0"/>
              <a:t>Class A</a:t>
            </a:r>
          </a:p>
          <a:p>
            <a:r>
              <a:rPr lang="en-IN" dirty="0"/>
              <a:t>Class B </a:t>
            </a:r>
          </a:p>
          <a:p>
            <a:r>
              <a:rPr lang="en-IN" dirty="0"/>
              <a:t>Class C </a:t>
            </a:r>
          </a:p>
          <a:p>
            <a:r>
              <a:rPr lang="en-IN" dirty="0"/>
              <a:t>Class D</a:t>
            </a:r>
          </a:p>
          <a:p>
            <a:r>
              <a:rPr lang="en-IN" dirty="0"/>
              <a:t>Class E</a:t>
            </a:r>
          </a:p>
          <a:p>
            <a:r>
              <a:rPr lang="en-IN" dirty="0"/>
              <a:t>No. of IP present in Class A = 2^31  (fixed bit = 0)</a:t>
            </a:r>
          </a:p>
          <a:p>
            <a:r>
              <a:rPr lang="en-IN" dirty="0"/>
              <a:t>No. of IP present in Class B = 2^30  (fixed bits = 10)</a:t>
            </a:r>
          </a:p>
          <a:p>
            <a:r>
              <a:rPr lang="en-IN" dirty="0"/>
              <a:t>No. of IP present in Class C = 2^29 (fixed bits = 110)</a:t>
            </a:r>
          </a:p>
          <a:p>
            <a:r>
              <a:rPr lang="en-IN" dirty="0"/>
              <a:t>No. of IP present in Class D = 2^28 (fixed bits = 1110)</a:t>
            </a:r>
          </a:p>
          <a:p>
            <a:r>
              <a:rPr lang="en-IN" dirty="0"/>
              <a:t>No. of IP present in Class E = 2^28 (fixed bits =1111)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1A8882-A8FE-2057-57D3-0D60A62D3D87}"/>
              </a:ext>
            </a:extLst>
          </p:cNvPr>
          <p:cNvSpPr/>
          <p:nvPr/>
        </p:nvSpPr>
        <p:spPr>
          <a:xfrm>
            <a:off x="3657600" y="4005943"/>
            <a:ext cx="3897086" cy="285205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71366B-F7AC-1F57-B1B9-05858FC9A314}"/>
              </a:ext>
            </a:extLst>
          </p:cNvPr>
          <p:cNvCxnSpPr/>
          <p:nvPr/>
        </p:nvCxnSpPr>
        <p:spPr>
          <a:xfrm>
            <a:off x="5421086" y="3890435"/>
            <a:ext cx="0" cy="296756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865AC6-0ADC-03AD-B959-F4BF4C7C09BC}"/>
              </a:ext>
            </a:extLst>
          </p:cNvPr>
          <p:cNvCxnSpPr/>
          <p:nvPr/>
        </p:nvCxnSpPr>
        <p:spPr>
          <a:xfrm>
            <a:off x="5421086" y="5268686"/>
            <a:ext cx="2133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0335F9-C82A-2334-F59E-FE9A555C8392}"/>
              </a:ext>
            </a:extLst>
          </p:cNvPr>
          <p:cNvCxnSpPr/>
          <p:nvPr/>
        </p:nvCxnSpPr>
        <p:spPr>
          <a:xfrm>
            <a:off x="5421086" y="5268686"/>
            <a:ext cx="1970314" cy="5987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F29EF5-47A5-BCBA-0E8B-11133CE013E6}"/>
              </a:ext>
            </a:extLst>
          </p:cNvPr>
          <p:cNvCxnSpPr/>
          <p:nvPr/>
        </p:nvCxnSpPr>
        <p:spPr>
          <a:xfrm>
            <a:off x="5421086" y="5268686"/>
            <a:ext cx="1164771" cy="1404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4EDF912-A60D-54E0-1FE2-0B022A34A1B4}"/>
              </a:ext>
            </a:extLst>
          </p:cNvPr>
          <p:cNvSpPr txBox="1"/>
          <p:nvPr/>
        </p:nvSpPr>
        <p:spPr>
          <a:xfrm>
            <a:off x="3864429" y="4844143"/>
            <a:ext cx="1393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A </a:t>
            </a:r>
          </a:p>
          <a:p>
            <a:r>
              <a:rPr lang="en-IN" dirty="0"/>
              <a:t>2^31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D2ACC1-7EA1-2864-CD74-4D677C7FB0D9}"/>
              </a:ext>
            </a:extLst>
          </p:cNvPr>
          <p:cNvSpPr txBox="1"/>
          <p:nvPr/>
        </p:nvSpPr>
        <p:spPr>
          <a:xfrm>
            <a:off x="5617029" y="4354286"/>
            <a:ext cx="1404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B</a:t>
            </a:r>
          </a:p>
          <a:p>
            <a:r>
              <a:rPr lang="en-IN" dirty="0"/>
              <a:t>2^30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D809F-55D4-CC59-5320-AF396ABEE44E}"/>
              </a:ext>
            </a:extLst>
          </p:cNvPr>
          <p:cNvSpPr txBox="1"/>
          <p:nvPr/>
        </p:nvSpPr>
        <p:spPr>
          <a:xfrm>
            <a:off x="6335486" y="5268686"/>
            <a:ext cx="105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A4CEE-EA92-CC0D-9030-1100CA88BB66}"/>
              </a:ext>
            </a:extLst>
          </p:cNvPr>
          <p:cNvSpPr txBox="1"/>
          <p:nvPr/>
        </p:nvSpPr>
        <p:spPr>
          <a:xfrm>
            <a:off x="6008914" y="5791200"/>
            <a:ext cx="1251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B56782-A401-0BAE-EB54-F2358E5DAD37}"/>
              </a:ext>
            </a:extLst>
          </p:cNvPr>
          <p:cNvSpPr txBox="1"/>
          <p:nvPr/>
        </p:nvSpPr>
        <p:spPr>
          <a:xfrm>
            <a:off x="5421086" y="6324600"/>
            <a:ext cx="990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E</a:t>
            </a:r>
          </a:p>
        </p:txBody>
      </p:sp>
    </p:spTree>
    <p:extLst>
      <p:ext uri="{BB962C8B-B14F-4D97-AF65-F5344CB8AC3E}">
        <p14:creationId xmlns:p14="http://schemas.microsoft.com/office/powerpoint/2010/main" val="554906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C0E16-D005-19C4-CAD0-69943734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26" y="484413"/>
            <a:ext cx="8596668" cy="794658"/>
          </a:xfrm>
        </p:spPr>
        <p:txBody>
          <a:bodyPr/>
          <a:lstStyle/>
          <a:p>
            <a:r>
              <a:rPr lang="en-IN" b="1" dirty="0"/>
              <a:t>Class 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C18CBE-BE3D-959E-827C-F2C3F17519A5}"/>
              </a:ext>
            </a:extLst>
          </p:cNvPr>
          <p:cNvSpPr/>
          <p:nvPr/>
        </p:nvSpPr>
        <p:spPr>
          <a:xfrm>
            <a:off x="792045" y="1970314"/>
            <a:ext cx="9100457" cy="10014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10FF60-B700-0A77-DD21-341D59D8A177}"/>
              </a:ext>
            </a:extLst>
          </p:cNvPr>
          <p:cNvCxnSpPr/>
          <p:nvPr/>
        </p:nvCxnSpPr>
        <p:spPr>
          <a:xfrm>
            <a:off x="2653502" y="1970314"/>
            <a:ext cx="0" cy="10014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1CF4B3-DD78-13BF-DA1B-5B102DD20013}"/>
              </a:ext>
            </a:extLst>
          </p:cNvPr>
          <p:cNvCxnSpPr/>
          <p:nvPr/>
        </p:nvCxnSpPr>
        <p:spPr>
          <a:xfrm>
            <a:off x="5059245" y="1970314"/>
            <a:ext cx="0" cy="10014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94FDFDB-B38F-99B6-9B23-0EB5265F41FA}"/>
              </a:ext>
            </a:extLst>
          </p:cNvPr>
          <p:cNvCxnSpPr/>
          <p:nvPr/>
        </p:nvCxnSpPr>
        <p:spPr>
          <a:xfrm>
            <a:off x="7377902" y="1970314"/>
            <a:ext cx="0" cy="10014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9BAAAA-04E7-AEDC-274B-5DF0476441BB}"/>
              </a:ext>
            </a:extLst>
          </p:cNvPr>
          <p:cNvSpPr txBox="1"/>
          <p:nvPr/>
        </p:nvSpPr>
        <p:spPr>
          <a:xfrm>
            <a:off x="944445" y="2155371"/>
            <a:ext cx="1306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 bit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8E93E-28E0-6C54-FDD6-8263F413AB76}"/>
              </a:ext>
            </a:extLst>
          </p:cNvPr>
          <p:cNvSpPr txBox="1"/>
          <p:nvPr/>
        </p:nvSpPr>
        <p:spPr>
          <a:xfrm>
            <a:off x="2816787" y="2155371"/>
            <a:ext cx="1752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 bit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A30B4C-692F-3621-D409-7DBB66F87D59}"/>
              </a:ext>
            </a:extLst>
          </p:cNvPr>
          <p:cNvSpPr txBox="1"/>
          <p:nvPr/>
        </p:nvSpPr>
        <p:spPr>
          <a:xfrm>
            <a:off x="5222530" y="2155371"/>
            <a:ext cx="1665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 bit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4AB23E-00F3-C25A-A27E-017B4989B535}"/>
              </a:ext>
            </a:extLst>
          </p:cNvPr>
          <p:cNvSpPr txBox="1"/>
          <p:nvPr/>
        </p:nvSpPr>
        <p:spPr>
          <a:xfrm>
            <a:off x="7650045" y="2155371"/>
            <a:ext cx="1230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 bit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9A46A5-C098-0EB5-58ED-958FAD27C814}"/>
              </a:ext>
            </a:extLst>
          </p:cNvPr>
          <p:cNvCxnSpPr/>
          <p:nvPr/>
        </p:nvCxnSpPr>
        <p:spPr>
          <a:xfrm>
            <a:off x="792045" y="3178629"/>
            <a:ext cx="18614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DA36177-37E0-E578-07FB-10D7C86C3BA3}"/>
              </a:ext>
            </a:extLst>
          </p:cNvPr>
          <p:cNvCxnSpPr/>
          <p:nvPr/>
        </p:nvCxnSpPr>
        <p:spPr>
          <a:xfrm>
            <a:off x="1630245" y="3178629"/>
            <a:ext cx="0" cy="620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E80D31F-30D1-9FBD-D775-F26E5F0CDB48}"/>
              </a:ext>
            </a:extLst>
          </p:cNvPr>
          <p:cNvSpPr txBox="1"/>
          <p:nvPr/>
        </p:nvSpPr>
        <p:spPr>
          <a:xfrm>
            <a:off x="906344" y="3929743"/>
            <a:ext cx="268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Network ID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09FA7F6-45D5-A47D-F6FD-F4912D796F75}"/>
              </a:ext>
            </a:extLst>
          </p:cNvPr>
          <p:cNvCxnSpPr/>
          <p:nvPr/>
        </p:nvCxnSpPr>
        <p:spPr>
          <a:xfrm>
            <a:off x="2947416" y="3178629"/>
            <a:ext cx="685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63F95D-9C6D-B17D-ED2F-90488ECD634F}"/>
              </a:ext>
            </a:extLst>
          </p:cNvPr>
          <p:cNvCxnSpPr/>
          <p:nvPr/>
        </p:nvCxnSpPr>
        <p:spPr>
          <a:xfrm>
            <a:off x="6224016" y="3178629"/>
            <a:ext cx="0" cy="7511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106BDC2-035D-6E46-0807-9BF9677E5CCE}"/>
              </a:ext>
            </a:extLst>
          </p:cNvPr>
          <p:cNvSpPr txBox="1"/>
          <p:nvPr/>
        </p:nvSpPr>
        <p:spPr>
          <a:xfrm>
            <a:off x="5755931" y="3907579"/>
            <a:ext cx="3243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Host 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5B02BB-EF99-8D1B-9975-C47834E1F34B}"/>
              </a:ext>
            </a:extLst>
          </p:cNvPr>
          <p:cNvSpPr txBox="1"/>
          <p:nvPr/>
        </p:nvSpPr>
        <p:spPr>
          <a:xfrm>
            <a:off x="476359" y="4593771"/>
            <a:ext cx="8109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Class A -&gt; 0 to 2^31 (1 to 126)</a:t>
            </a:r>
          </a:p>
        </p:txBody>
      </p:sp>
    </p:spTree>
    <p:extLst>
      <p:ext uri="{BB962C8B-B14F-4D97-AF65-F5344CB8AC3E}">
        <p14:creationId xmlns:p14="http://schemas.microsoft.com/office/powerpoint/2010/main" val="292768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7FEFD-C390-5AEF-4026-A841C9AF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57" y="568019"/>
            <a:ext cx="8596668" cy="762000"/>
          </a:xfrm>
        </p:spPr>
        <p:txBody>
          <a:bodyPr/>
          <a:lstStyle/>
          <a:p>
            <a:r>
              <a:rPr lang="en-IN" b="1" dirty="0"/>
              <a:t>Class 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EB0A62-44D5-BC24-36F9-6FAAF05E4B8B}"/>
              </a:ext>
            </a:extLst>
          </p:cNvPr>
          <p:cNvSpPr/>
          <p:nvPr/>
        </p:nvSpPr>
        <p:spPr>
          <a:xfrm>
            <a:off x="337457" y="2053917"/>
            <a:ext cx="9579429" cy="762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8 bit                        8 bit                          8 bit                             8 bit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186393-236D-7CC3-B87C-E8F2A412540D}"/>
              </a:ext>
            </a:extLst>
          </p:cNvPr>
          <p:cNvCxnSpPr/>
          <p:nvPr/>
        </p:nvCxnSpPr>
        <p:spPr>
          <a:xfrm>
            <a:off x="2318657" y="2053917"/>
            <a:ext cx="0" cy="76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CC26C45-8920-94E7-F448-395802D531F3}"/>
              </a:ext>
            </a:extLst>
          </p:cNvPr>
          <p:cNvCxnSpPr/>
          <p:nvPr/>
        </p:nvCxnSpPr>
        <p:spPr>
          <a:xfrm>
            <a:off x="4615543" y="2053917"/>
            <a:ext cx="0" cy="76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6247A0-2A93-F1AB-34FE-D8E3D2FD6C1E}"/>
              </a:ext>
            </a:extLst>
          </p:cNvPr>
          <p:cNvCxnSpPr/>
          <p:nvPr/>
        </p:nvCxnSpPr>
        <p:spPr>
          <a:xfrm>
            <a:off x="7021286" y="2053917"/>
            <a:ext cx="0" cy="76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8BC75F-FA07-E050-83F1-07B75D888957}"/>
              </a:ext>
            </a:extLst>
          </p:cNvPr>
          <p:cNvCxnSpPr/>
          <p:nvPr/>
        </p:nvCxnSpPr>
        <p:spPr>
          <a:xfrm>
            <a:off x="337457" y="3098945"/>
            <a:ext cx="42780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F69813F-B5A9-FC35-D376-9D7C9A8606C2}"/>
              </a:ext>
            </a:extLst>
          </p:cNvPr>
          <p:cNvCxnSpPr/>
          <p:nvPr/>
        </p:nvCxnSpPr>
        <p:spPr>
          <a:xfrm>
            <a:off x="2318657" y="3098945"/>
            <a:ext cx="0" cy="1164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F6E46D-A479-E0F8-978E-70949B48CF83}"/>
              </a:ext>
            </a:extLst>
          </p:cNvPr>
          <p:cNvSpPr txBox="1"/>
          <p:nvPr/>
        </p:nvSpPr>
        <p:spPr>
          <a:xfrm>
            <a:off x="1698170" y="4263713"/>
            <a:ext cx="4397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Network ID 2^14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BC2A5D-87DB-09B2-369C-37A8BA95D427}"/>
              </a:ext>
            </a:extLst>
          </p:cNvPr>
          <p:cNvCxnSpPr/>
          <p:nvPr/>
        </p:nvCxnSpPr>
        <p:spPr>
          <a:xfrm>
            <a:off x="4845039" y="3098945"/>
            <a:ext cx="50718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BB5422F-F8E6-3689-38BB-21BAE7A4FBF5}"/>
              </a:ext>
            </a:extLst>
          </p:cNvPr>
          <p:cNvCxnSpPr/>
          <p:nvPr/>
        </p:nvCxnSpPr>
        <p:spPr>
          <a:xfrm>
            <a:off x="7021286" y="3098945"/>
            <a:ext cx="0" cy="1164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237BF4D-E6F5-51E9-6461-F1F5D5DE9A4E}"/>
              </a:ext>
            </a:extLst>
          </p:cNvPr>
          <p:cNvSpPr txBox="1"/>
          <p:nvPr/>
        </p:nvSpPr>
        <p:spPr>
          <a:xfrm>
            <a:off x="6585857" y="4295982"/>
            <a:ext cx="3254829" cy="369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Host ID 2^16-2</a:t>
            </a:r>
          </a:p>
        </p:txBody>
      </p:sp>
    </p:spTree>
    <p:extLst>
      <p:ext uri="{BB962C8B-B14F-4D97-AF65-F5344CB8AC3E}">
        <p14:creationId xmlns:p14="http://schemas.microsoft.com/office/powerpoint/2010/main" val="203099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ADBA-C07F-8DC7-BA82-BBE369DD8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758" y="583040"/>
            <a:ext cx="8596668" cy="696686"/>
          </a:xfrm>
        </p:spPr>
        <p:txBody>
          <a:bodyPr/>
          <a:lstStyle/>
          <a:p>
            <a:r>
              <a:rPr lang="en-IN" b="1" dirty="0"/>
              <a:t>Class C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38ED74-7633-AA3C-B4F7-474977182C0C}"/>
              </a:ext>
            </a:extLst>
          </p:cNvPr>
          <p:cNvSpPr/>
          <p:nvPr/>
        </p:nvSpPr>
        <p:spPr>
          <a:xfrm>
            <a:off x="640758" y="2063496"/>
            <a:ext cx="9217780" cy="11321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8 bit                        8 bit                      8 bit                             8 bit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43558-E6BD-563F-794C-B0C52B39F501}"/>
              </a:ext>
            </a:extLst>
          </p:cNvPr>
          <p:cNvCxnSpPr/>
          <p:nvPr/>
        </p:nvCxnSpPr>
        <p:spPr>
          <a:xfrm>
            <a:off x="2608653" y="2063496"/>
            <a:ext cx="0" cy="11321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84EACF-653B-8F26-9882-5F6BB209E6DE}"/>
              </a:ext>
            </a:extLst>
          </p:cNvPr>
          <p:cNvCxnSpPr/>
          <p:nvPr/>
        </p:nvCxnSpPr>
        <p:spPr>
          <a:xfrm>
            <a:off x="4568081" y="2063496"/>
            <a:ext cx="0" cy="11321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325511-A938-D056-F548-05197C6903F8}"/>
              </a:ext>
            </a:extLst>
          </p:cNvPr>
          <p:cNvCxnSpPr/>
          <p:nvPr/>
        </p:nvCxnSpPr>
        <p:spPr>
          <a:xfrm>
            <a:off x="6984710" y="2063496"/>
            <a:ext cx="0" cy="1230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7B78533-382C-9CBE-3881-2D2674B542A4}"/>
              </a:ext>
            </a:extLst>
          </p:cNvPr>
          <p:cNvCxnSpPr/>
          <p:nvPr/>
        </p:nvCxnSpPr>
        <p:spPr>
          <a:xfrm>
            <a:off x="725424" y="3620153"/>
            <a:ext cx="62592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D2D7A6-64CD-9CBC-A98D-62C89D90833F}"/>
              </a:ext>
            </a:extLst>
          </p:cNvPr>
          <p:cNvCxnSpPr/>
          <p:nvPr/>
        </p:nvCxnSpPr>
        <p:spPr>
          <a:xfrm>
            <a:off x="3588367" y="3620153"/>
            <a:ext cx="0" cy="1480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735723D-16D5-E816-4B88-339C1F26E0CA}"/>
              </a:ext>
            </a:extLst>
          </p:cNvPr>
          <p:cNvSpPr txBox="1"/>
          <p:nvPr/>
        </p:nvSpPr>
        <p:spPr>
          <a:xfrm>
            <a:off x="2839673" y="5134051"/>
            <a:ext cx="4819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Network ID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7BD6326-6339-5E80-D723-FE46F120E1BF}"/>
              </a:ext>
            </a:extLst>
          </p:cNvPr>
          <p:cNvCxnSpPr/>
          <p:nvPr/>
        </p:nvCxnSpPr>
        <p:spPr>
          <a:xfrm>
            <a:off x="7235081" y="3620153"/>
            <a:ext cx="24601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38A562-C3B9-3F25-8C37-E8C076488835}"/>
              </a:ext>
            </a:extLst>
          </p:cNvPr>
          <p:cNvCxnSpPr/>
          <p:nvPr/>
        </p:nvCxnSpPr>
        <p:spPr>
          <a:xfrm>
            <a:off x="8345424" y="3620153"/>
            <a:ext cx="0" cy="1513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7651A15-60D6-6BF2-5E58-6CE414CFF8ED}"/>
              </a:ext>
            </a:extLst>
          </p:cNvPr>
          <p:cNvSpPr txBox="1"/>
          <p:nvPr/>
        </p:nvSpPr>
        <p:spPr>
          <a:xfrm>
            <a:off x="8040625" y="5231239"/>
            <a:ext cx="287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Host ID</a:t>
            </a:r>
          </a:p>
        </p:txBody>
      </p:sp>
    </p:spTree>
    <p:extLst>
      <p:ext uri="{BB962C8B-B14F-4D97-AF65-F5344CB8AC3E}">
        <p14:creationId xmlns:p14="http://schemas.microsoft.com/office/powerpoint/2010/main" val="118993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55C1-D957-A758-9055-510D40A8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Identification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3B49A-110C-FF9D-6DD8-1034B606F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304288"/>
            <a:ext cx="8596668" cy="3737074"/>
          </a:xfrm>
        </p:spPr>
        <p:txBody>
          <a:bodyPr/>
          <a:lstStyle/>
          <a:p>
            <a:r>
              <a:rPr lang="en-IN" dirty="0"/>
              <a:t>To send a Packet from Source to Destination we need 4 identification Steps 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ED94B-21A8-63C5-F622-E97A4247C1B3}"/>
              </a:ext>
            </a:extLst>
          </p:cNvPr>
          <p:cNvSpPr txBox="1"/>
          <p:nvPr/>
        </p:nvSpPr>
        <p:spPr>
          <a:xfrm>
            <a:off x="677334" y="2636520"/>
            <a:ext cx="85102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1.Identify the Network </a:t>
            </a:r>
          </a:p>
          <a:p>
            <a:r>
              <a:rPr lang="en-IN" dirty="0"/>
              <a:t>2. Identify the Host within the network</a:t>
            </a:r>
          </a:p>
          <a:p>
            <a:r>
              <a:rPr lang="en-IN" dirty="0"/>
              <a:t>3.Identify the Subnet within the Network  </a:t>
            </a:r>
          </a:p>
          <a:p>
            <a:r>
              <a:rPr lang="en-IN" dirty="0"/>
              <a:t>4. Identify the process within the Host.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IP address is also called as Logical Address</a:t>
            </a:r>
          </a:p>
          <a:p>
            <a:r>
              <a:rPr lang="en-IN" dirty="0"/>
              <a:t>MACC address is also called as Physical address.</a:t>
            </a:r>
          </a:p>
          <a:p>
            <a:r>
              <a:rPr lang="en-IN" dirty="0"/>
              <a:t>ARP is used to find MACC address</a:t>
            </a:r>
          </a:p>
          <a:p>
            <a:pPr marL="342900" indent="-342900">
              <a:buAutoNum type="arabicPeriod"/>
            </a:pPr>
            <a:r>
              <a:rPr lang="en-IN" dirty="0"/>
              <a:t>ARP request is broadcasting.</a:t>
            </a:r>
          </a:p>
          <a:p>
            <a:pPr marL="342900" indent="-342900">
              <a:buAutoNum type="arabicPeriod"/>
            </a:pPr>
            <a:r>
              <a:rPr lang="en-IN" dirty="0"/>
              <a:t>ARP reply is Unicasting </a:t>
            </a:r>
          </a:p>
        </p:txBody>
      </p:sp>
    </p:spTree>
    <p:extLst>
      <p:ext uri="{BB962C8B-B14F-4D97-AF65-F5344CB8AC3E}">
        <p14:creationId xmlns:p14="http://schemas.microsoft.com/office/powerpoint/2010/main" val="931519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D480B6-7ACE-417F-56D7-5779D17AD801}"/>
              </a:ext>
            </a:extLst>
          </p:cNvPr>
          <p:cNvSpPr/>
          <p:nvPr/>
        </p:nvSpPr>
        <p:spPr>
          <a:xfrm>
            <a:off x="1774371" y="1360714"/>
            <a:ext cx="4822372" cy="3581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9BDA45-D6B1-9316-A217-1BA1DFB25C13}"/>
              </a:ext>
            </a:extLst>
          </p:cNvPr>
          <p:cNvSpPr/>
          <p:nvPr/>
        </p:nvSpPr>
        <p:spPr>
          <a:xfrm>
            <a:off x="2253343" y="1915886"/>
            <a:ext cx="3842657" cy="250371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BA49D8-D93E-878A-9BC7-27E6F2C40213}"/>
              </a:ext>
            </a:extLst>
          </p:cNvPr>
          <p:cNvSpPr/>
          <p:nvPr/>
        </p:nvSpPr>
        <p:spPr>
          <a:xfrm>
            <a:off x="2830286" y="2416629"/>
            <a:ext cx="2841171" cy="15675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733C4E-9CBB-1C5A-841A-A0889F074D89}"/>
              </a:ext>
            </a:extLst>
          </p:cNvPr>
          <p:cNvSpPr/>
          <p:nvPr/>
        </p:nvSpPr>
        <p:spPr>
          <a:xfrm>
            <a:off x="3635828" y="2710543"/>
            <a:ext cx="9144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CEC2C5-A050-5705-F7F7-DB068124EED2}"/>
              </a:ext>
            </a:extLst>
          </p:cNvPr>
          <p:cNvCxnSpPr/>
          <p:nvPr/>
        </p:nvCxnSpPr>
        <p:spPr>
          <a:xfrm>
            <a:off x="3973286" y="4942114"/>
            <a:ext cx="0" cy="892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C86A1C-2DEF-4CCD-C1BF-446525694983}"/>
              </a:ext>
            </a:extLst>
          </p:cNvPr>
          <p:cNvCxnSpPr/>
          <p:nvPr/>
        </p:nvCxnSpPr>
        <p:spPr>
          <a:xfrm>
            <a:off x="6096000" y="3864429"/>
            <a:ext cx="10776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A1C4A1-6D88-A81B-F6B6-9B29517EC84C}"/>
              </a:ext>
            </a:extLst>
          </p:cNvPr>
          <p:cNvCxnSpPr/>
          <p:nvPr/>
        </p:nvCxnSpPr>
        <p:spPr>
          <a:xfrm flipV="1">
            <a:off x="5671457" y="2122714"/>
            <a:ext cx="1371600" cy="435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507A34-BD5F-99EE-1BFD-D92A95B8ABBA}"/>
              </a:ext>
            </a:extLst>
          </p:cNvPr>
          <p:cNvCxnSpPr>
            <a:stCxn id="7" idx="0"/>
          </p:cNvCxnSpPr>
          <p:nvPr/>
        </p:nvCxnSpPr>
        <p:spPr>
          <a:xfrm flipV="1">
            <a:off x="4093028" y="1164771"/>
            <a:ext cx="0" cy="1545772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B4F3C38-805E-E278-56DC-C8FAD82328C7}"/>
              </a:ext>
            </a:extLst>
          </p:cNvPr>
          <p:cNvSpPr txBox="1"/>
          <p:nvPr/>
        </p:nvSpPr>
        <p:spPr>
          <a:xfrm>
            <a:off x="2917371" y="5834743"/>
            <a:ext cx="4561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Identify the Network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93045B-6FA2-5785-7F97-CE5E8B0DAB2C}"/>
              </a:ext>
            </a:extLst>
          </p:cNvPr>
          <p:cNvSpPr txBox="1"/>
          <p:nvPr/>
        </p:nvSpPr>
        <p:spPr>
          <a:xfrm>
            <a:off x="7260771" y="3624943"/>
            <a:ext cx="2786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Identify the Subnet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525FE6-4BF8-BD3E-2F8F-107FEA4E0256}"/>
              </a:ext>
            </a:extLst>
          </p:cNvPr>
          <p:cNvSpPr txBox="1"/>
          <p:nvPr/>
        </p:nvSpPr>
        <p:spPr>
          <a:xfrm>
            <a:off x="7043057" y="1785257"/>
            <a:ext cx="300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Identify the Host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B407D8-98E1-9841-DB06-13C8B7D2BABD}"/>
              </a:ext>
            </a:extLst>
          </p:cNvPr>
          <p:cNvSpPr txBox="1"/>
          <p:nvPr/>
        </p:nvSpPr>
        <p:spPr>
          <a:xfrm>
            <a:off x="3429000" y="696686"/>
            <a:ext cx="2950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Identify the Process </a:t>
            </a:r>
          </a:p>
        </p:txBody>
      </p:sp>
    </p:spTree>
    <p:extLst>
      <p:ext uri="{BB962C8B-B14F-4D97-AF65-F5344CB8AC3E}">
        <p14:creationId xmlns:p14="http://schemas.microsoft.com/office/powerpoint/2010/main" val="287593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B709-41BB-FC8B-6032-5E64445AC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848" y="163286"/>
            <a:ext cx="8596668" cy="751114"/>
          </a:xfrm>
        </p:spPr>
        <p:txBody>
          <a:bodyPr/>
          <a:lstStyle/>
          <a:p>
            <a:r>
              <a:rPr lang="en-IN" b="1" dirty="0"/>
              <a:t>Types of Communication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6301D-C531-7B30-799D-305A48E4A43D}"/>
              </a:ext>
            </a:extLst>
          </p:cNvPr>
          <p:cNvSpPr txBox="1"/>
          <p:nvPr/>
        </p:nvSpPr>
        <p:spPr>
          <a:xfrm>
            <a:off x="609600" y="914400"/>
            <a:ext cx="7924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There are 3 Types of Communication </a:t>
            </a:r>
          </a:p>
          <a:p>
            <a:pPr marL="342900" indent="-342900">
              <a:buAutoNum type="arabicPeriod"/>
            </a:pPr>
            <a:r>
              <a:rPr lang="en-IN" dirty="0"/>
              <a:t>Unicast Communication(1:1)</a:t>
            </a:r>
          </a:p>
          <a:p>
            <a:pPr marL="342900" indent="-342900">
              <a:buAutoNum type="arabicPeriod"/>
            </a:pPr>
            <a:r>
              <a:rPr lang="en-IN" dirty="0"/>
              <a:t>Broadcast Communication (1:all)</a:t>
            </a:r>
          </a:p>
          <a:p>
            <a:pPr marL="342900" indent="-342900">
              <a:buAutoNum type="arabicPeriod"/>
            </a:pPr>
            <a:r>
              <a:rPr lang="en-IN" dirty="0"/>
              <a:t>Multicast Communication (1:many)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FD87C7-E71A-16E1-0AD7-25B20CA7FE3D}"/>
              </a:ext>
            </a:extLst>
          </p:cNvPr>
          <p:cNvSpPr/>
          <p:nvPr/>
        </p:nvSpPr>
        <p:spPr>
          <a:xfrm>
            <a:off x="3298371" y="2318657"/>
            <a:ext cx="3864429" cy="5471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400" dirty="0"/>
              <a:t>Unicast Communication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69C788-8D67-DA7C-E31E-794BCA7CDBC2}"/>
              </a:ext>
            </a:extLst>
          </p:cNvPr>
          <p:cNvSpPr txBox="1"/>
          <p:nvPr/>
        </p:nvSpPr>
        <p:spPr>
          <a:xfrm>
            <a:off x="261257" y="3200400"/>
            <a:ext cx="86759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Transmitting the data from one computer to another computer is called unicast Communication.</a:t>
            </a:r>
          </a:p>
          <a:p>
            <a:pPr marL="342900" indent="-342900">
              <a:buAutoNum type="arabicPeriod"/>
            </a:pPr>
            <a:r>
              <a:rPr lang="en-IN" dirty="0"/>
              <a:t>It is one to one transmission.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27432E-BC35-81A1-28EB-F31A11C1869E}"/>
              </a:ext>
            </a:extLst>
          </p:cNvPr>
          <p:cNvSpPr/>
          <p:nvPr/>
        </p:nvSpPr>
        <p:spPr>
          <a:xfrm>
            <a:off x="609600" y="4397829"/>
            <a:ext cx="8926286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DATA         10.19.32.75                                              119.35.91.31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22DDD5-3E78-D7F5-6D83-4367B6A85CCE}"/>
              </a:ext>
            </a:extLst>
          </p:cNvPr>
          <p:cNvCxnSpPr/>
          <p:nvPr/>
        </p:nvCxnSpPr>
        <p:spPr>
          <a:xfrm>
            <a:off x="1676400" y="4397829"/>
            <a:ext cx="0" cy="9233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9674E7-2495-F41B-7F20-ED71E17A4F66}"/>
              </a:ext>
            </a:extLst>
          </p:cNvPr>
          <p:cNvCxnSpPr/>
          <p:nvPr/>
        </p:nvCxnSpPr>
        <p:spPr>
          <a:xfrm>
            <a:off x="5845629" y="4397829"/>
            <a:ext cx="0" cy="1045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1B7993-4B91-FC38-94C7-0ED2BCBB86C5}"/>
              </a:ext>
            </a:extLst>
          </p:cNvPr>
          <p:cNvSpPr txBox="1"/>
          <p:nvPr/>
        </p:nvSpPr>
        <p:spPr>
          <a:xfrm>
            <a:off x="1948543" y="5442857"/>
            <a:ext cx="2688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 IP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F51DF-2A70-3D74-772C-5D2236CA84A1}"/>
              </a:ext>
            </a:extLst>
          </p:cNvPr>
          <p:cNvSpPr txBox="1"/>
          <p:nvPr/>
        </p:nvSpPr>
        <p:spPr>
          <a:xfrm>
            <a:off x="6172200" y="5442857"/>
            <a:ext cx="2362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Destination IP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735A1F-595C-FD4A-D8B9-387DFB3F051D}"/>
              </a:ext>
            </a:extLst>
          </p:cNvPr>
          <p:cNvSpPr txBox="1"/>
          <p:nvPr/>
        </p:nvSpPr>
        <p:spPr>
          <a:xfrm>
            <a:off x="437848" y="5812189"/>
            <a:ext cx="8499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Unicast communication both Source and Destination can be present in same as well as different Network </a:t>
            </a:r>
          </a:p>
        </p:txBody>
      </p:sp>
    </p:spTree>
    <p:extLst>
      <p:ext uri="{BB962C8B-B14F-4D97-AF65-F5344CB8AC3E}">
        <p14:creationId xmlns:p14="http://schemas.microsoft.com/office/powerpoint/2010/main" val="259416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92D5-B94A-8375-E42C-8B092626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17714"/>
            <a:ext cx="8596668" cy="1001486"/>
          </a:xfrm>
        </p:spPr>
        <p:txBody>
          <a:bodyPr>
            <a:normAutofit/>
          </a:bodyPr>
          <a:lstStyle/>
          <a:p>
            <a:r>
              <a:rPr lang="en-IN" b="1" dirty="0"/>
              <a:t>Broadcast Communication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E613CB-0DAE-1ED2-2FE0-2C09D407FA31}"/>
              </a:ext>
            </a:extLst>
          </p:cNvPr>
          <p:cNvSpPr txBox="1"/>
          <p:nvPr/>
        </p:nvSpPr>
        <p:spPr>
          <a:xfrm>
            <a:off x="391886" y="1012371"/>
            <a:ext cx="8795657" cy="56279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CB679A-68BE-580A-A475-A1430486DEE0}"/>
              </a:ext>
            </a:extLst>
          </p:cNvPr>
          <p:cNvCxnSpPr/>
          <p:nvPr/>
        </p:nvCxnSpPr>
        <p:spPr>
          <a:xfrm>
            <a:off x="4876800" y="794657"/>
            <a:ext cx="0" cy="424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D9A5802-860A-A322-6BD2-BCECC12630C7}"/>
              </a:ext>
            </a:extLst>
          </p:cNvPr>
          <p:cNvCxnSpPr/>
          <p:nvPr/>
        </p:nvCxnSpPr>
        <p:spPr>
          <a:xfrm flipH="1">
            <a:off x="2188029" y="1219200"/>
            <a:ext cx="26887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7C7F3B-308A-1125-F24B-81F87C1374CB}"/>
              </a:ext>
            </a:extLst>
          </p:cNvPr>
          <p:cNvCxnSpPr/>
          <p:nvPr/>
        </p:nvCxnSpPr>
        <p:spPr>
          <a:xfrm>
            <a:off x="4876800" y="1219200"/>
            <a:ext cx="25799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C939E5-E209-0A75-9B35-004E32B1C2EC}"/>
              </a:ext>
            </a:extLst>
          </p:cNvPr>
          <p:cNvCxnSpPr/>
          <p:nvPr/>
        </p:nvCxnSpPr>
        <p:spPr>
          <a:xfrm>
            <a:off x="2188029" y="1219200"/>
            <a:ext cx="0" cy="413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97EAE5D-5EB4-3AC6-FA90-963C6D2F06FE}"/>
              </a:ext>
            </a:extLst>
          </p:cNvPr>
          <p:cNvCxnSpPr/>
          <p:nvPr/>
        </p:nvCxnSpPr>
        <p:spPr>
          <a:xfrm>
            <a:off x="7456714" y="1219200"/>
            <a:ext cx="0" cy="337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9AB9B7-048A-518A-19B6-76B391A9B28A}"/>
              </a:ext>
            </a:extLst>
          </p:cNvPr>
          <p:cNvSpPr txBox="1"/>
          <p:nvPr/>
        </p:nvSpPr>
        <p:spPr>
          <a:xfrm>
            <a:off x="677334" y="1632857"/>
            <a:ext cx="330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Limited Broadcasting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04E2A0-5608-4541-3F57-80C3C8F282C9}"/>
              </a:ext>
            </a:extLst>
          </p:cNvPr>
          <p:cNvSpPr txBox="1"/>
          <p:nvPr/>
        </p:nvSpPr>
        <p:spPr>
          <a:xfrm>
            <a:off x="6166156" y="1589705"/>
            <a:ext cx="3306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Direct Broadcasting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491341-D73C-6248-4852-8FD6A2823B31}"/>
              </a:ext>
            </a:extLst>
          </p:cNvPr>
          <p:cNvCxnSpPr>
            <a:cxnSpLocks/>
          </p:cNvCxnSpPr>
          <p:nvPr/>
        </p:nvCxnSpPr>
        <p:spPr>
          <a:xfrm>
            <a:off x="4615543" y="1796143"/>
            <a:ext cx="0" cy="2111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49B194B-1E7F-85F8-9BBC-BD8480EEF3B0}"/>
              </a:ext>
            </a:extLst>
          </p:cNvPr>
          <p:cNvSpPr txBox="1"/>
          <p:nvPr/>
        </p:nvSpPr>
        <p:spPr>
          <a:xfrm>
            <a:off x="566057" y="2002189"/>
            <a:ext cx="39630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1.Sending a Message from one Computer to all Other Computer in the same Network.</a:t>
            </a:r>
          </a:p>
          <a:p>
            <a:r>
              <a:rPr lang="en-IN" dirty="0"/>
              <a:t>2.  255.255.255.255 is reserved for Broadcasting.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86A9D-EDB2-2B3F-1821-752887D12CDA}"/>
              </a:ext>
            </a:extLst>
          </p:cNvPr>
          <p:cNvSpPr txBox="1"/>
          <p:nvPr/>
        </p:nvSpPr>
        <p:spPr>
          <a:xfrm>
            <a:off x="4746171" y="2002189"/>
            <a:ext cx="39944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Sending a Message from one Computer to all Other Computer in Other Network.</a:t>
            </a:r>
          </a:p>
          <a:p>
            <a:pPr marL="342900" indent="-342900">
              <a:buAutoNum type="arabicPeriod"/>
            </a:pPr>
            <a:r>
              <a:rPr lang="en-IN" dirty="0"/>
              <a:t>X.255.255.255 is reserved for Direct Broadcasting.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022B79-F9F1-ACF9-E066-0ED3E197788C}"/>
              </a:ext>
            </a:extLst>
          </p:cNvPr>
          <p:cNvSpPr txBox="1"/>
          <p:nvPr/>
        </p:nvSpPr>
        <p:spPr>
          <a:xfrm>
            <a:off x="566057" y="3907971"/>
            <a:ext cx="82622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X.0.0.0.0 fixed for NID of Entire Network</a:t>
            </a:r>
          </a:p>
          <a:p>
            <a:r>
              <a:rPr lang="en-IN" dirty="0"/>
              <a:t>127.X.Y.Z fixed for Loop back testing or inter process Communication </a:t>
            </a:r>
          </a:p>
          <a:p>
            <a:r>
              <a:rPr lang="en-IN" dirty="0"/>
              <a:t>Limited Broadcast is always be used as Destination IP </a:t>
            </a:r>
          </a:p>
          <a:p>
            <a:r>
              <a:rPr lang="en-IN" dirty="0"/>
              <a:t>Direct Broadcasting is always be used as Destination IP  </a:t>
            </a:r>
          </a:p>
        </p:txBody>
      </p:sp>
    </p:spTree>
    <p:extLst>
      <p:ext uri="{BB962C8B-B14F-4D97-AF65-F5344CB8AC3E}">
        <p14:creationId xmlns:p14="http://schemas.microsoft.com/office/powerpoint/2010/main" val="1407899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D2C592-1733-492B-E451-1A364AFC7674}"/>
              </a:ext>
            </a:extLst>
          </p:cNvPr>
          <p:cNvSpPr txBox="1"/>
          <p:nvPr/>
        </p:nvSpPr>
        <p:spPr>
          <a:xfrm>
            <a:off x="511628" y="1992086"/>
            <a:ext cx="98080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Transport Layer is responsible for Process to Process Delivery of Segment </a:t>
            </a:r>
          </a:p>
          <a:p>
            <a:r>
              <a:rPr lang="en-IN" sz="2000" dirty="0"/>
              <a:t>Network Layer is responsible for Source to Destination </a:t>
            </a:r>
          </a:p>
          <a:p>
            <a:r>
              <a:rPr lang="en-IN" sz="2000" dirty="0" err="1"/>
              <a:t>Macc</a:t>
            </a:r>
            <a:r>
              <a:rPr lang="en-IN" sz="2000" dirty="0"/>
              <a:t> layer is responsible for Host to Host</a:t>
            </a:r>
          </a:p>
        </p:txBody>
      </p:sp>
    </p:spTree>
    <p:extLst>
      <p:ext uri="{BB962C8B-B14F-4D97-AF65-F5344CB8AC3E}">
        <p14:creationId xmlns:p14="http://schemas.microsoft.com/office/powerpoint/2010/main" val="46703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49790F-E9DB-4E44-C0E5-F824B76BD978}"/>
              </a:ext>
            </a:extLst>
          </p:cNvPr>
          <p:cNvSpPr/>
          <p:nvPr/>
        </p:nvSpPr>
        <p:spPr>
          <a:xfrm>
            <a:off x="1551432" y="1273629"/>
            <a:ext cx="3298371" cy="348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Application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787DB-F92E-F9A5-9A81-3B44691B68E9}"/>
              </a:ext>
            </a:extLst>
          </p:cNvPr>
          <p:cNvSpPr/>
          <p:nvPr/>
        </p:nvSpPr>
        <p:spPr>
          <a:xfrm>
            <a:off x="1551432" y="2013857"/>
            <a:ext cx="3298371" cy="348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Transport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BEEF04-5E80-8169-5B37-541D636A4C4C}"/>
              </a:ext>
            </a:extLst>
          </p:cNvPr>
          <p:cNvSpPr/>
          <p:nvPr/>
        </p:nvSpPr>
        <p:spPr>
          <a:xfrm>
            <a:off x="1551432" y="2830285"/>
            <a:ext cx="4060349" cy="34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Network Layer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BA01ED-0CF7-1A6B-AC6E-31AF330C4A66}"/>
              </a:ext>
            </a:extLst>
          </p:cNvPr>
          <p:cNvSpPr/>
          <p:nvPr/>
        </p:nvSpPr>
        <p:spPr>
          <a:xfrm>
            <a:off x="1551432" y="3646713"/>
            <a:ext cx="4898555" cy="34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Data Link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66EFAD-3664-745C-C0AC-90D5DA9FE0EC}"/>
              </a:ext>
            </a:extLst>
          </p:cNvPr>
          <p:cNvSpPr/>
          <p:nvPr/>
        </p:nvSpPr>
        <p:spPr>
          <a:xfrm>
            <a:off x="680577" y="4582885"/>
            <a:ext cx="6683821" cy="3483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Physical layer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32F9020-9A89-54E6-E95E-AA35D3F51837}"/>
              </a:ext>
            </a:extLst>
          </p:cNvPr>
          <p:cNvCxnSpPr/>
          <p:nvPr/>
        </p:nvCxnSpPr>
        <p:spPr>
          <a:xfrm>
            <a:off x="3597946" y="1642961"/>
            <a:ext cx="0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F49364-1E89-12E5-A797-8E54EF4E0E37}"/>
              </a:ext>
            </a:extLst>
          </p:cNvPr>
          <p:cNvCxnSpPr/>
          <p:nvPr/>
        </p:nvCxnSpPr>
        <p:spPr>
          <a:xfrm>
            <a:off x="3597946" y="2383189"/>
            <a:ext cx="0" cy="468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CAEA6A-3EB4-DB48-C5E1-84F5A0BFFE38}"/>
              </a:ext>
            </a:extLst>
          </p:cNvPr>
          <p:cNvCxnSpPr/>
          <p:nvPr/>
        </p:nvCxnSpPr>
        <p:spPr>
          <a:xfrm>
            <a:off x="3597946" y="3178627"/>
            <a:ext cx="0" cy="468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8BFD643-E9E8-170F-0859-9B3BF68CA8E9}"/>
              </a:ext>
            </a:extLst>
          </p:cNvPr>
          <p:cNvCxnSpPr>
            <a:cxnSpLocks/>
          </p:cNvCxnSpPr>
          <p:nvPr/>
        </p:nvCxnSpPr>
        <p:spPr>
          <a:xfrm>
            <a:off x="3597946" y="4016045"/>
            <a:ext cx="0" cy="5878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2A2FFBF-697C-42CC-4933-0B3469E4F978}"/>
              </a:ext>
            </a:extLst>
          </p:cNvPr>
          <p:cNvSpPr/>
          <p:nvPr/>
        </p:nvSpPr>
        <p:spPr>
          <a:xfrm>
            <a:off x="4849803" y="2013857"/>
            <a:ext cx="761990" cy="348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H1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051582-1A98-C39C-0BD5-5C0C78512416}"/>
              </a:ext>
            </a:extLst>
          </p:cNvPr>
          <p:cNvSpPr/>
          <p:nvPr/>
        </p:nvSpPr>
        <p:spPr>
          <a:xfrm>
            <a:off x="5611781" y="2830285"/>
            <a:ext cx="838215" cy="348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H2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76145A-21C5-0D05-186D-3195AA4B8866}"/>
              </a:ext>
            </a:extLst>
          </p:cNvPr>
          <p:cNvSpPr/>
          <p:nvPr/>
        </p:nvSpPr>
        <p:spPr>
          <a:xfrm>
            <a:off x="6449987" y="3646713"/>
            <a:ext cx="914414" cy="3483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solidFill>
                  <a:schemeClr val="tx2">
                    <a:lumMod val="10000"/>
                  </a:schemeClr>
                </a:solidFill>
              </a:rPr>
              <a:t>H3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1E88AF-2C50-CC75-6E2A-82985FBF112B}"/>
              </a:ext>
            </a:extLst>
          </p:cNvPr>
          <p:cNvSpPr/>
          <p:nvPr/>
        </p:nvSpPr>
        <p:spPr>
          <a:xfrm>
            <a:off x="680577" y="3646713"/>
            <a:ext cx="870855" cy="34834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dirty="0"/>
              <a:t>T1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C90DF1-B357-1843-2E35-3AEDB363E688}"/>
              </a:ext>
            </a:extLst>
          </p:cNvPr>
          <p:cNvSpPr txBox="1"/>
          <p:nvPr/>
        </p:nvSpPr>
        <p:spPr>
          <a:xfrm>
            <a:off x="4849803" y="1273629"/>
            <a:ext cx="213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Message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E69047-DEA4-0E45-C8B3-E482CD9F7963}"/>
              </a:ext>
            </a:extLst>
          </p:cNvPr>
          <p:cNvSpPr txBox="1"/>
          <p:nvPr/>
        </p:nvSpPr>
        <p:spPr>
          <a:xfrm>
            <a:off x="5611781" y="2013857"/>
            <a:ext cx="2667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Segment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3439E0-F99E-9D65-FE43-DC7CFBA19390}"/>
              </a:ext>
            </a:extLst>
          </p:cNvPr>
          <p:cNvSpPr txBox="1"/>
          <p:nvPr/>
        </p:nvSpPr>
        <p:spPr>
          <a:xfrm>
            <a:off x="6742595" y="2830285"/>
            <a:ext cx="2296902" cy="40011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wrap="square" rtlCol="0">
            <a:spAutoFit/>
          </a:bodyPr>
          <a:lstStyle/>
          <a:p>
            <a:r>
              <a:rPr lang="en-IN" sz="2000" dirty="0"/>
              <a:t>Datagram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F6F3BB-AC9B-1956-7459-6BAFE9E2366D}"/>
              </a:ext>
            </a:extLst>
          </p:cNvPr>
          <p:cNvSpPr txBox="1"/>
          <p:nvPr/>
        </p:nvSpPr>
        <p:spPr>
          <a:xfrm>
            <a:off x="7693582" y="3636218"/>
            <a:ext cx="2296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Frame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E65611-E816-68ED-36B7-45EE7D1FE5B0}"/>
              </a:ext>
            </a:extLst>
          </p:cNvPr>
          <p:cNvSpPr txBox="1"/>
          <p:nvPr/>
        </p:nvSpPr>
        <p:spPr>
          <a:xfrm>
            <a:off x="7657006" y="4582885"/>
            <a:ext cx="2068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Steam of bits 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B126629-DAB4-F6BD-5085-5D0622CD6667}"/>
              </a:ext>
            </a:extLst>
          </p:cNvPr>
          <p:cNvCxnSpPr/>
          <p:nvPr/>
        </p:nvCxnSpPr>
        <p:spPr>
          <a:xfrm>
            <a:off x="5611781" y="2362199"/>
            <a:ext cx="0" cy="468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539929-C0B0-F25C-F48B-AB9D6F417A4E}"/>
              </a:ext>
            </a:extLst>
          </p:cNvPr>
          <p:cNvCxnSpPr/>
          <p:nvPr/>
        </p:nvCxnSpPr>
        <p:spPr>
          <a:xfrm>
            <a:off x="1551432" y="2362199"/>
            <a:ext cx="0" cy="468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FD69FF-CAE2-2E35-E796-D582981C33A7}"/>
              </a:ext>
            </a:extLst>
          </p:cNvPr>
          <p:cNvCxnSpPr/>
          <p:nvPr/>
        </p:nvCxnSpPr>
        <p:spPr>
          <a:xfrm>
            <a:off x="1551432" y="3178627"/>
            <a:ext cx="0" cy="468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61867A-B2D3-A650-9EA0-E71FBEE83E11}"/>
              </a:ext>
            </a:extLst>
          </p:cNvPr>
          <p:cNvCxnSpPr/>
          <p:nvPr/>
        </p:nvCxnSpPr>
        <p:spPr>
          <a:xfrm>
            <a:off x="6449987" y="3178627"/>
            <a:ext cx="0" cy="4680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192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DA899-9FC7-E11D-6019-49EB5CC6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IPV4 Header(H2)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AFFF41-C8BA-6022-0F43-E3040720EB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742" y="1502229"/>
            <a:ext cx="9100457" cy="501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76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7BCE3-2B31-9DCF-8293-D815F0FA9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63286"/>
            <a:ext cx="8596668" cy="751114"/>
          </a:xfrm>
        </p:spPr>
        <p:txBody>
          <a:bodyPr/>
          <a:lstStyle/>
          <a:p>
            <a:r>
              <a:rPr lang="en-IN" b="1" dirty="0"/>
              <a:t>Header Length(4bit)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A8C68-2494-CC12-B0FF-33E49748D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362" y="1148218"/>
            <a:ext cx="8596668" cy="5285239"/>
          </a:xfrm>
        </p:spPr>
        <p:txBody>
          <a:bodyPr/>
          <a:lstStyle/>
          <a:p>
            <a:r>
              <a:rPr lang="en-IN" dirty="0"/>
              <a:t>This field tells what is the exact header Size.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A508D-36E8-302C-DF58-8D82775C4145}"/>
              </a:ext>
            </a:extLst>
          </p:cNvPr>
          <p:cNvSpPr txBox="1"/>
          <p:nvPr/>
        </p:nvSpPr>
        <p:spPr>
          <a:xfrm>
            <a:off x="677334" y="1556657"/>
            <a:ext cx="85966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Hl is 4 Bit </a:t>
            </a:r>
          </a:p>
          <a:p>
            <a:r>
              <a:rPr lang="en-IN" dirty="0"/>
              <a:t>We need header length because Header size is not fixed , it can vary between 20B to 40B </a:t>
            </a:r>
          </a:p>
          <a:p>
            <a:r>
              <a:rPr lang="en-IN" dirty="0"/>
              <a:t>20 Bytes are fixed </a:t>
            </a:r>
          </a:p>
          <a:p>
            <a:r>
              <a:rPr lang="en-IN" dirty="0"/>
              <a:t>From 4 bit max value can be 15 but the Size of Header  is 60 byte.</a:t>
            </a:r>
          </a:p>
          <a:p>
            <a:r>
              <a:rPr lang="en-IN" dirty="0"/>
              <a:t>So, we use the scaling factor </a:t>
            </a:r>
          </a:p>
          <a:p>
            <a:r>
              <a:rPr lang="en-IN" dirty="0"/>
              <a:t>Header Length = 60/4=15   [Scaling factor]</a:t>
            </a:r>
          </a:p>
          <a:p>
            <a:r>
              <a:rPr lang="en-IN" dirty="0"/>
              <a:t>Header Length =20/4 = 5 [Scaling factor]</a:t>
            </a:r>
          </a:p>
          <a:p>
            <a:r>
              <a:rPr lang="en-IN" dirty="0"/>
              <a:t>If header size is not divisible by 4 , then we add the dummy bits from Option field which is Padding(5 bit)</a:t>
            </a:r>
          </a:p>
          <a:p>
            <a:r>
              <a:rPr lang="en-IN" dirty="0"/>
              <a:t>So,</a:t>
            </a:r>
          </a:p>
          <a:p>
            <a:r>
              <a:rPr lang="en-IN" dirty="0"/>
              <a:t>Header Length field Min value is 5</a:t>
            </a:r>
          </a:p>
          <a:p>
            <a:r>
              <a:rPr lang="en-IN" dirty="0"/>
              <a:t>Header Length field Max value is 15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80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6508-CFA3-160E-3259-265C764A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74172"/>
            <a:ext cx="8596668" cy="522514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12603-1DC2-5518-16C0-E32F1FBEDC4B}"/>
              </a:ext>
            </a:extLst>
          </p:cNvPr>
          <p:cNvSpPr txBox="1"/>
          <p:nvPr/>
        </p:nvSpPr>
        <p:spPr>
          <a:xfrm>
            <a:off x="677333" y="859971"/>
            <a:ext cx="93266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It is 8 bit field</a:t>
            </a:r>
          </a:p>
          <a:p>
            <a:r>
              <a:rPr lang="en-IN" sz="2000" dirty="0"/>
              <a:t>First 3 bits are Priority Bits </a:t>
            </a:r>
          </a:p>
          <a:p>
            <a:r>
              <a:rPr lang="en-IN" sz="2000" dirty="0"/>
              <a:t>Next 4 bits are type of Services bits </a:t>
            </a:r>
          </a:p>
          <a:p>
            <a:r>
              <a:rPr lang="en-IN" sz="2000" dirty="0"/>
              <a:t>Last is Not used </a:t>
            </a:r>
          </a:p>
          <a:p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97E66-828A-56D8-1859-C34CF4EE23D5}"/>
              </a:ext>
            </a:extLst>
          </p:cNvPr>
          <p:cNvSpPr/>
          <p:nvPr/>
        </p:nvSpPr>
        <p:spPr>
          <a:xfrm>
            <a:off x="646419" y="2421418"/>
            <a:ext cx="7167347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P          </a:t>
            </a:r>
            <a:r>
              <a:rPr lang="en-IN" dirty="0" err="1"/>
              <a:t>P</a:t>
            </a:r>
            <a:r>
              <a:rPr lang="en-IN" dirty="0"/>
              <a:t>         </a:t>
            </a:r>
            <a:r>
              <a:rPr lang="en-IN" dirty="0" err="1"/>
              <a:t>P</a:t>
            </a:r>
            <a:r>
              <a:rPr lang="en-IN" dirty="0"/>
              <a:t>          D          T           R             C             not used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D16C6E-BEEF-EA8D-1097-53064198AABA}"/>
              </a:ext>
            </a:extLst>
          </p:cNvPr>
          <p:cNvCxnSpPr/>
          <p:nvPr/>
        </p:nvCxnSpPr>
        <p:spPr>
          <a:xfrm>
            <a:off x="1229144" y="2421418"/>
            <a:ext cx="0" cy="685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BF2CAA-63CE-12F7-FF2A-C663448CC87D}"/>
              </a:ext>
            </a:extLst>
          </p:cNvPr>
          <p:cNvCxnSpPr/>
          <p:nvPr/>
        </p:nvCxnSpPr>
        <p:spPr>
          <a:xfrm>
            <a:off x="2002030" y="2421418"/>
            <a:ext cx="0" cy="685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6F27C41-A9B3-B1B8-66CF-AA53B0F45638}"/>
              </a:ext>
            </a:extLst>
          </p:cNvPr>
          <p:cNvCxnSpPr/>
          <p:nvPr/>
        </p:nvCxnSpPr>
        <p:spPr>
          <a:xfrm>
            <a:off x="2774916" y="2421418"/>
            <a:ext cx="0" cy="685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F024D5-E4C2-60AC-3E09-69B84B14AB79}"/>
              </a:ext>
            </a:extLst>
          </p:cNvPr>
          <p:cNvCxnSpPr/>
          <p:nvPr/>
        </p:nvCxnSpPr>
        <p:spPr>
          <a:xfrm>
            <a:off x="3634887" y="2421418"/>
            <a:ext cx="0" cy="685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B195EC4-6405-A83A-ABF6-F30F9AC8D439}"/>
              </a:ext>
            </a:extLst>
          </p:cNvPr>
          <p:cNvCxnSpPr/>
          <p:nvPr/>
        </p:nvCxnSpPr>
        <p:spPr>
          <a:xfrm>
            <a:off x="4494858" y="2421418"/>
            <a:ext cx="0" cy="685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4C2503-A7E7-DCCD-FE29-31684113F492}"/>
              </a:ext>
            </a:extLst>
          </p:cNvPr>
          <p:cNvCxnSpPr/>
          <p:nvPr/>
        </p:nvCxnSpPr>
        <p:spPr>
          <a:xfrm>
            <a:off x="5539887" y="2421418"/>
            <a:ext cx="0" cy="6858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19683E-17D5-1B85-1DE2-42D5CA5A1FE8}"/>
              </a:ext>
            </a:extLst>
          </p:cNvPr>
          <p:cNvCxnSpPr/>
          <p:nvPr/>
        </p:nvCxnSpPr>
        <p:spPr>
          <a:xfrm>
            <a:off x="6595801" y="2421418"/>
            <a:ext cx="0" cy="6858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3E4293-D759-6D2D-ED89-C24786314B60}"/>
              </a:ext>
            </a:extLst>
          </p:cNvPr>
          <p:cNvCxnSpPr/>
          <p:nvPr/>
        </p:nvCxnSpPr>
        <p:spPr>
          <a:xfrm>
            <a:off x="517026" y="3368475"/>
            <a:ext cx="225789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4BE204B-FC5A-17A7-A1CD-667DCD2C059F}"/>
              </a:ext>
            </a:extLst>
          </p:cNvPr>
          <p:cNvSpPr txBox="1"/>
          <p:nvPr/>
        </p:nvSpPr>
        <p:spPr>
          <a:xfrm>
            <a:off x="517026" y="3477333"/>
            <a:ext cx="2334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Priority Bits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DD9FCA2-146E-C49F-9905-CB89216ED8EE}"/>
              </a:ext>
            </a:extLst>
          </p:cNvPr>
          <p:cNvCxnSpPr/>
          <p:nvPr/>
        </p:nvCxnSpPr>
        <p:spPr>
          <a:xfrm>
            <a:off x="2774916" y="3368475"/>
            <a:ext cx="38970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4983E5D8-EF0E-1E4E-9154-B6A303F7509A}"/>
              </a:ext>
            </a:extLst>
          </p:cNvPr>
          <p:cNvSpPr txBox="1"/>
          <p:nvPr/>
        </p:nvSpPr>
        <p:spPr>
          <a:xfrm>
            <a:off x="2851105" y="3477333"/>
            <a:ext cx="3820896" cy="36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Services Bits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8680DB-BD11-3559-1BE2-295DC0C6BF75}"/>
              </a:ext>
            </a:extLst>
          </p:cNvPr>
          <p:cNvSpPr txBox="1"/>
          <p:nvPr/>
        </p:nvSpPr>
        <p:spPr>
          <a:xfrm>
            <a:off x="646419" y="4293761"/>
            <a:ext cx="772755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 Types of Services Bits </a:t>
            </a:r>
          </a:p>
          <a:p>
            <a:pPr marL="342900" indent="-342900">
              <a:buAutoNum type="arabicPeriod"/>
            </a:pPr>
            <a:r>
              <a:rPr lang="en-IN" sz="2000" dirty="0"/>
              <a:t>Delay – it should be minimum Delay </a:t>
            </a:r>
          </a:p>
          <a:p>
            <a:pPr marL="342900" indent="-342900">
              <a:buAutoNum type="arabicPeriod"/>
            </a:pPr>
            <a:r>
              <a:rPr lang="en-IN" sz="2000" dirty="0"/>
              <a:t>Throughput – Max throughput</a:t>
            </a:r>
          </a:p>
          <a:p>
            <a:pPr marL="342900" indent="-342900">
              <a:buAutoNum type="arabicPeriod"/>
            </a:pPr>
            <a:r>
              <a:rPr lang="en-IN" sz="2000" dirty="0"/>
              <a:t>Reliability – High Reliability </a:t>
            </a:r>
          </a:p>
          <a:p>
            <a:pPr marL="342900" indent="-342900">
              <a:buAutoNum type="arabicPeriod"/>
            </a:pPr>
            <a:r>
              <a:rPr lang="en-IN" sz="2000" dirty="0"/>
              <a:t>Cost – Cost should be minimum</a:t>
            </a:r>
          </a:p>
        </p:txBody>
      </p:sp>
    </p:spTree>
    <p:extLst>
      <p:ext uri="{BB962C8B-B14F-4D97-AF65-F5344CB8AC3E}">
        <p14:creationId xmlns:p14="http://schemas.microsoft.com/office/powerpoint/2010/main" val="84484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7763-A16E-06DB-EC21-3FA64579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45000"/>
            <a:ext cx="8104876" cy="576943"/>
          </a:xfrm>
        </p:spPr>
        <p:txBody>
          <a:bodyPr>
            <a:normAutofit fontScale="90000"/>
          </a:bodyPr>
          <a:lstStyle/>
          <a:p>
            <a:r>
              <a:rPr lang="en-IN" dirty="0"/>
              <a:t>Total Length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FBABDE-10D6-192D-1820-4C2492A61E23}"/>
              </a:ext>
            </a:extLst>
          </p:cNvPr>
          <p:cNvSpPr txBox="1"/>
          <p:nvPr/>
        </p:nvSpPr>
        <p:spPr>
          <a:xfrm>
            <a:off x="1060074" y="1427649"/>
            <a:ext cx="9568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Total Length is 16 bit</a:t>
            </a:r>
          </a:p>
          <a:p>
            <a:r>
              <a:rPr lang="en-IN" sz="2000" dirty="0"/>
              <a:t>Total </a:t>
            </a:r>
            <a:r>
              <a:rPr lang="en-IN" dirty="0"/>
              <a:t>Length</a:t>
            </a:r>
            <a:r>
              <a:rPr lang="en-IN" sz="2000" dirty="0"/>
              <a:t> = Data or payload  +  Header </a:t>
            </a:r>
          </a:p>
          <a:p>
            <a:r>
              <a:rPr lang="en-IN" sz="2000" dirty="0"/>
              <a:t>Max Number possible = 2^16 -1 =65535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1433A4-DD92-4516-A968-FBF0571C03BE}"/>
              </a:ext>
            </a:extLst>
          </p:cNvPr>
          <p:cNvSpPr/>
          <p:nvPr/>
        </p:nvSpPr>
        <p:spPr>
          <a:xfrm>
            <a:off x="1214653" y="3485606"/>
            <a:ext cx="7522029" cy="12083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9600" dirty="0"/>
              <a:t>65,515      H2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DB73F7-2CC3-558F-1CC1-B1558D799790}"/>
              </a:ext>
            </a:extLst>
          </p:cNvPr>
          <p:cNvCxnSpPr/>
          <p:nvPr/>
        </p:nvCxnSpPr>
        <p:spPr>
          <a:xfrm>
            <a:off x="6966857" y="3485606"/>
            <a:ext cx="0" cy="12083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434142-DCE1-C3AA-1A26-FCE712118CA1}"/>
              </a:ext>
            </a:extLst>
          </p:cNvPr>
          <p:cNvSpPr txBox="1"/>
          <p:nvPr/>
        </p:nvSpPr>
        <p:spPr>
          <a:xfrm>
            <a:off x="7194830" y="2887675"/>
            <a:ext cx="1687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 Bytes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DA494F-49E6-6ED5-2458-FFE2B817F9DF}"/>
              </a:ext>
            </a:extLst>
          </p:cNvPr>
          <p:cNvSpPr txBox="1"/>
          <p:nvPr/>
        </p:nvSpPr>
        <p:spPr>
          <a:xfrm>
            <a:off x="1174279" y="4922519"/>
            <a:ext cx="7602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65,535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0FDD8F-7D47-3B1B-0025-6CCDC28F3F2B}"/>
              </a:ext>
            </a:extLst>
          </p:cNvPr>
          <p:cNvCxnSpPr>
            <a:endCxn id="10" idx="3"/>
          </p:cNvCxnSpPr>
          <p:nvPr/>
        </p:nvCxnSpPr>
        <p:spPr>
          <a:xfrm>
            <a:off x="5682343" y="5214906"/>
            <a:ext cx="309471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330F140-701D-9556-2908-D6EE06609FD9}"/>
              </a:ext>
            </a:extLst>
          </p:cNvPr>
          <p:cNvCxnSpPr/>
          <p:nvPr/>
        </p:nvCxnSpPr>
        <p:spPr>
          <a:xfrm flipH="1">
            <a:off x="1306286" y="5205549"/>
            <a:ext cx="30153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813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592F-4959-1EB7-7339-9007FC34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539" y="369333"/>
            <a:ext cx="8596668" cy="660400"/>
          </a:xfrm>
        </p:spPr>
        <p:txBody>
          <a:bodyPr/>
          <a:lstStyle/>
          <a:p>
            <a:r>
              <a:rPr lang="en-IN" dirty="0"/>
              <a:t>Identification Number (16 bit)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D12B4-5157-F0EA-5B67-14C0330D2E9C}"/>
              </a:ext>
            </a:extLst>
          </p:cNvPr>
          <p:cNvSpPr txBox="1"/>
          <p:nvPr/>
        </p:nvSpPr>
        <p:spPr>
          <a:xfrm>
            <a:off x="677744" y="1409951"/>
            <a:ext cx="922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Every datagram is associated with a number which is called Datagram number or identification number.</a:t>
            </a:r>
          </a:p>
          <a:p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98A2284-EEC7-282A-39A0-BA097E6502E6}"/>
              </a:ext>
            </a:extLst>
          </p:cNvPr>
          <p:cNvCxnSpPr>
            <a:cxnSpLocks/>
          </p:cNvCxnSpPr>
          <p:nvPr/>
        </p:nvCxnSpPr>
        <p:spPr>
          <a:xfrm>
            <a:off x="1782645" y="380651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6B8C3F-16DD-B28E-462D-3E8D2E3E8D64}"/>
              </a:ext>
            </a:extLst>
          </p:cNvPr>
          <p:cNvCxnSpPr/>
          <p:nvPr/>
        </p:nvCxnSpPr>
        <p:spPr>
          <a:xfrm>
            <a:off x="737616" y="2968317"/>
            <a:ext cx="18179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902A7A1B-12A2-568D-6DCE-653245B7CC3D}"/>
              </a:ext>
            </a:extLst>
          </p:cNvPr>
          <p:cNvSpPr/>
          <p:nvPr/>
        </p:nvSpPr>
        <p:spPr>
          <a:xfrm>
            <a:off x="2582744" y="2777885"/>
            <a:ext cx="544286" cy="3265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*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7A37D1-AB63-4B82-94B4-31918BD1BDA9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3127030" y="2941171"/>
            <a:ext cx="1681843" cy="271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F4217963-0BE7-360B-DDAB-C848BE668442}"/>
              </a:ext>
            </a:extLst>
          </p:cNvPr>
          <p:cNvSpPr/>
          <p:nvPr/>
        </p:nvSpPr>
        <p:spPr>
          <a:xfrm>
            <a:off x="4808873" y="2574721"/>
            <a:ext cx="2286000" cy="78719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MTU = 100 B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B691340-9D12-A3EB-325A-0AE0C5519FAE}"/>
              </a:ext>
            </a:extLst>
          </p:cNvPr>
          <p:cNvCxnSpPr>
            <a:stCxn id="13" idx="6"/>
          </p:cNvCxnSpPr>
          <p:nvPr/>
        </p:nvCxnSpPr>
        <p:spPr>
          <a:xfrm>
            <a:off x="7094873" y="2968317"/>
            <a:ext cx="16219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5612679-C3A6-193A-5602-59B92F679626}"/>
              </a:ext>
            </a:extLst>
          </p:cNvPr>
          <p:cNvSpPr/>
          <p:nvPr/>
        </p:nvSpPr>
        <p:spPr>
          <a:xfrm>
            <a:off x="8749501" y="2757945"/>
            <a:ext cx="859345" cy="3664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664E02-00D2-6DC3-3913-13D27B07F5B5}"/>
              </a:ext>
            </a:extLst>
          </p:cNvPr>
          <p:cNvSpPr/>
          <p:nvPr/>
        </p:nvSpPr>
        <p:spPr>
          <a:xfrm>
            <a:off x="356616" y="2783397"/>
            <a:ext cx="642257" cy="34649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539CB7-2CA0-CE8D-0111-948A0C7C6FFB}"/>
              </a:ext>
            </a:extLst>
          </p:cNvPr>
          <p:cNvSpPr/>
          <p:nvPr/>
        </p:nvSpPr>
        <p:spPr>
          <a:xfrm>
            <a:off x="2392245" y="2130117"/>
            <a:ext cx="1208314" cy="2541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300 Bytes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F9CDCD7-5BB9-9FD1-31D8-14C295F79770}"/>
              </a:ext>
            </a:extLst>
          </p:cNvPr>
          <p:cNvCxnSpPr/>
          <p:nvPr/>
        </p:nvCxnSpPr>
        <p:spPr>
          <a:xfrm flipH="1">
            <a:off x="1554045" y="2384290"/>
            <a:ext cx="1028699" cy="18576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6EDEA8-05FE-D81F-A72E-8D78F042ED05}"/>
              </a:ext>
            </a:extLst>
          </p:cNvPr>
          <p:cNvCxnSpPr>
            <a:stCxn id="18" idx="2"/>
          </p:cNvCxnSpPr>
          <p:nvPr/>
        </p:nvCxnSpPr>
        <p:spPr>
          <a:xfrm>
            <a:off x="2996402" y="2384290"/>
            <a:ext cx="604157" cy="20318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CE524E-941A-A079-3D77-6BF29AC1429E}"/>
              </a:ext>
            </a:extLst>
          </p:cNvPr>
          <p:cNvCxnSpPr/>
          <p:nvPr/>
        </p:nvCxnSpPr>
        <p:spPr>
          <a:xfrm>
            <a:off x="3371959" y="2384290"/>
            <a:ext cx="1132114" cy="18576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C37014B-52C0-CDBE-14A0-BB81A4130965}"/>
              </a:ext>
            </a:extLst>
          </p:cNvPr>
          <p:cNvSpPr txBox="1"/>
          <p:nvPr/>
        </p:nvSpPr>
        <p:spPr>
          <a:xfrm>
            <a:off x="1033950" y="4133088"/>
            <a:ext cx="1162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99AA54-0635-502F-484B-C2951D2F118E}"/>
              </a:ext>
            </a:extLst>
          </p:cNvPr>
          <p:cNvSpPr txBox="1"/>
          <p:nvPr/>
        </p:nvSpPr>
        <p:spPr>
          <a:xfrm>
            <a:off x="3263102" y="4416117"/>
            <a:ext cx="892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F300FD-D87E-5660-D728-26733B213315}"/>
              </a:ext>
            </a:extLst>
          </p:cNvPr>
          <p:cNvSpPr txBox="1"/>
          <p:nvPr/>
        </p:nvSpPr>
        <p:spPr>
          <a:xfrm>
            <a:off x="4275473" y="4241945"/>
            <a:ext cx="947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001C0C-9E35-CD06-B891-32D726AB39BE}"/>
              </a:ext>
            </a:extLst>
          </p:cNvPr>
          <p:cNvSpPr txBox="1"/>
          <p:nvPr/>
        </p:nvSpPr>
        <p:spPr>
          <a:xfrm>
            <a:off x="3050829" y="4796335"/>
            <a:ext cx="145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 no =100B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05FBCF-60C6-DC3C-4186-A0CA5000C30D}"/>
              </a:ext>
            </a:extLst>
          </p:cNvPr>
          <p:cNvSpPr txBox="1"/>
          <p:nvPr/>
        </p:nvSpPr>
        <p:spPr>
          <a:xfrm>
            <a:off x="4504073" y="4611277"/>
            <a:ext cx="1654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 no = 100B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18CCDC-6B0C-7241-97FF-F3C89D0B1FAA}"/>
              </a:ext>
            </a:extLst>
          </p:cNvPr>
          <p:cNvSpPr txBox="1"/>
          <p:nvPr/>
        </p:nvSpPr>
        <p:spPr>
          <a:xfrm>
            <a:off x="737616" y="4502420"/>
            <a:ext cx="1453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 no = 100B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8B09B7-A3D0-05E2-2629-B9B4DC1E8B41}"/>
              </a:ext>
            </a:extLst>
          </p:cNvPr>
          <p:cNvSpPr txBox="1"/>
          <p:nvPr/>
        </p:nvSpPr>
        <p:spPr>
          <a:xfrm>
            <a:off x="3551573" y="2054845"/>
            <a:ext cx="2024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ID no = 100</a:t>
            </a:r>
          </a:p>
        </p:txBody>
      </p:sp>
    </p:spTree>
    <p:extLst>
      <p:ext uri="{BB962C8B-B14F-4D97-AF65-F5344CB8AC3E}">
        <p14:creationId xmlns:p14="http://schemas.microsoft.com/office/powerpoint/2010/main" val="3208127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69327-3BC9-DC47-66F9-46CCCBAC1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96" y="375992"/>
            <a:ext cx="8256405" cy="642257"/>
          </a:xfrm>
        </p:spPr>
        <p:txBody>
          <a:bodyPr/>
          <a:lstStyle/>
          <a:p>
            <a:r>
              <a:rPr lang="en-IN" dirty="0"/>
              <a:t>Flags(3bit)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09135D-880F-FFE6-0CF9-51C5AC50733E}"/>
              </a:ext>
            </a:extLst>
          </p:cNvPr>
          <p:cNvSpPr/>
          <p:nvPr/>
        </p:nvSpPr>
        <p:spPr>
          <a:xfrm>
            <a:off x="1888454" y="1448235"/>
            <a:ext cx="6248400" cy="6422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Not used         DF(Dot Fragment)        MF(More Fragment)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705919-EBD3-FDDE-C27C-E59188046273}"/>
              </a:ext>
            </a:extLst>
          </p:cNvPr>
          <p:cNvCxnSpPr/>
          <p:nvPr/>
        </p:nvCxnSpPr>
        <p:spPr>
          <a:xfrm>
            <a:off x="3303597" y="1448235"/>
            <a:ext cx="0" cy="642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8FB94C-43A6-9872-FB7E-1ECD05E3856F}"/>
              </a:ext>
            </a:extLst>
          </p:cNvPr>
          <p:cNvCxnSpPr/>
          <p:nvPr/>
        </p:nvCxnSpPr>
        <p:spPr>
          <a:xfrm>
            <a:off x="5829082" y="1448235"/>
            <a:ext cx="0" cy="642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A945FA-007A-FBC9-60E1-11633A62807B}"/>
              </a:ext>
            </a:extLst>
          </p:cNvPr>
          <p:cNvSpPr txBox="1"/>
          <p:nvPr/>
        </p:nvSpPr>
        <p:spPr>
          <a:xfrm>
            <a:off x="941397" y="2308207"/>
            <a:ext cx="8436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DF = 1 means , Don’t Fragment the data Packet </a:t>
            </a:r>
          </a:p>
          <a:p>
            <a:r>
              <a:rPr lang="en-IN" dirty="0"/>
              <a:t>If DF = 0 means , Datagram can be Fragmented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0EF1DB-4BA5-6202-C3AD-368B6E04CEF0}"/>
              </a:ext>
            </a:extLst>
          </p:cNvPr>
          <p:cNvSpPr txBox="1"/>
          <p:nvPr/>
        </p:nvSpPr>
        <p:spPr>
          <a:xfrm>
            <a:off x="821654" y="2954538"/>
            <a:ext cx="93072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Connection Less = Not waiting for ACK </a:t>
            </a:r>
          </a:p>
          <a:p>
            <a:r>
              <a:rPr lang="en-IN" dirty="0"/>
              <a:t>Connection Oriented = After sending a </a:t>
            </a:r>
            <a:r>
              <a:rPr lang="en-IN" dirty="0" err="1"/>
              <a:t>Pkt</a:t>
            </a:r>
            <a:r>
              <a:rPr lang="en-IN" dirty="0"/>
              <a:t> , Waiting for ACK </a:t>
            </a:r>
          </a:p>
          <a:p>
            <a:r>
              <a:rPr lang="en-IN" dirty="0"/>
              <a:t>Network Layer is Connection Less </a:t>
            </a:r>
          </a:p>
          <a:p>
            <a:r>
              <a:rPr lang="en-IN" dirty="0"/>
              <a:t>Transport Layer is Connection Oriented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00F37-8258-DEF5-2C67-B47665A88178}"/>
              </a:ext>
            </a:extLst>
          </p:cNvPr>
          <p:cNvSpPr txBox="1"/>
          <p:nvPr/>
        </p:nvSpPr>
        <p:spPr>
          <a:xfrm>
            <a:off x="1039368" y="4452693"/>
            <a:ext cx="83384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MF=1, this means more Fragment are available after this fragment , this is not the last Fragment </a:t>
            </a:r>
          </a:p>
          <a:p>
            <a:r>
              <a:rPr lang="en-IN" dirty="0"/>
              <a:t>MF = 0 , this means it is the Last fragment or only fragment </a:t>
            </a:r>
          </a:p>
        </p:txBody>
      </p:sp>
    </p:spTree>
    <p:extLst>
      <p:ext uri="{BB962C8B-B14F-4D97-AF65-F5344CB8AC3E}">
        <p14:creationId xmlns:p14="http://schemas.microsoft.com/office/powerpoint/2010/main" val="1244308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C68C8-79E1-7946-B8F0-F46AE7606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489" y="173736"/>
            <a:ext cx="8596668" cy="620486"/>
          </a:xfrm>
        </p:spPr>
        <p:txBody>
          <a:bodyPr>
            <a:normAutofit fontScale="90000"/>
          </a:bodyPr>
          <a:lstStyle/>
          <a:p>
            <a:r>
              <a:rPr lang="en-IN" dirty="0"/>
              <a:t>Fragment Offset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28C0D-A687-99A8-F21C-772C08061829}"/>
              </a:ext>
            </a:extLst>
          </p:cNvPr>
          <p:cNvSpPr txBox="1"/>
          <p:nvPr/>
        </p:nvSpPr>
        <p:spPr>
          <a:xfrm>
            <a:off x="677334" y="1034347"/>
            <a:ext cx="90738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This Field is 13 bit </a:t>
            </a:r>
          </a:p>
          <a:p>
            <a:r>
              <a:rPr lang="en-IN" sz="2000" dirty="0"/>
              <a:t>Fragment offset indicate no of data byte ahead of this fragment </a:t>
            </a:r>
          </a:p>
          <a:p>
            <a:endParaRPr lang="en-IN" sz="2000" dirty="0"/>
          </a:p>
          <a:p>
            <a:r>
              <a:rPr lang="en-IN" sz="2000" dirty="0"/>
              <a:t>Max number possible =2^13-1= 8191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18D15D-7631-9B38-2756-D9A70D7DF4AE}"/>
              </a:ext>
            </a:extLst>
          </p:cNvPr>
          <p:cNvSpPr txBox="1"/>
          <p:nvPr/>
        </p:nvSpPr>
        <p:spPr>
          <a:xfrm>
            <a:off x="500743" y="2701107"/>
            <a:ext cx="8610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dirty="0"/>
              <a:t>This Fragment offset tells us , regarding which is 1</a:t>
            </a:r>
            <a:r>
              <a:rPr lang="en-IN" sz="2000" baseline="30000" dirty="0"/>
              <a:t>st</a:t>
            </a:r>
            <a:r>
              <a:rPr lang="en-IN" sz="2000" dirty="0"/>
              <a:t> fragment , which is 2</a:t>
            </a:r>
            <a:r>
              <a:rPr lang="en-IN" sz="2000" baseline="30000" dirty="0"/>
              <a:t>nd</a:t>
            </a:r>
            <a:r>
              <a:rPr lang="en-IN" sz="2000" dirty="0"/>
              <a:t> fragment and which is 3</a:t>
            </a:r>
            <a:r>
              <a:rPr lang="en-IN" sz="2000" baseline="30000" dirty="0"/>
              <a:t>rd</a:t>
            </a:r>
            <a:r>
              <a:rPr lang="en-IN" sz="2000" dirty="0"/>
              <a:t> Fragment.</a:t>
            </a:r>
          </a:p>
          <a:p>
            <a:pPr marL="342900" indent="-342900">
              <a:buAutoNum type="arabicPeriod"/>
            </a:pPr>
            <a:r>
              <a:rPr lang="en-IN" sz="2000" dirty="0"/>
              <a:t>IP is a Packet Stream Protocol , that every Packet is Associated with one Sequence no. called as Identification number </a:t>
            </a:r>
          </a:p>
        </p:txBody>
      </p:sp>
    </p:spTree>
    <p:extLst>
      <p:ext uri="{BB962C8B-B14F-4D97-AF65-F5344CB8AC3E}">
        <p14:creationId xmlns:p14="http://schemas.microsoft.com/office/powerpoint/2010/main" val="513899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71D77-8445-9F7C-A35F-FED18B4C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52" y="189688"/>
            <a:ext cx="8707074" cy="642257"/>
          </a:xfrm>
        </p:spPr>
        <p:txBody>
          <a:bodyPr>
            <a:normAutofit/>
          </a:bodyPr>
          <a:lstStyle/>
          <a:p>
            <a:r>
              <a:rPr lang="en-IN" dirty="0"/>
              <a:t>TTL(8bit)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29E15-0A2B-DD99-F912-27EFBA08F33C}"/>
              </a:ext>
            </a:extLst>
          </p:cNvPr>
          <p:cNvSpPr txBox="1"/>
          <p:nvPr/>
        </p:nvSpPr>
        <p:spPr>
          <a:xfrm>
            <a:off x="757646" y="1169402"/>
            <a:ext cx="8882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TTL is used to avoid the infinite Lopping 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43C5F93-E4E5-5D6C-E1A7-2262F2CC630B}"/>
              </a:ext>
            </a:extLst>
          </p:cNvPr>
          <p:cNvSpPr/>
          <p:nvPr/>
        </p:nvSpPr>
        <p:spPr>
          <a:xfrm>
            <a:off x="1835331" y="1969284"/>
            <a:ext cx="849086" cy="28302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FB337B6-A340-7468-FBF8-B4C2523C7862}"/>
              </a:ext>
            </a:extLst>
          </p:cNvPr>
          <p:cNvSpPr/>
          <p:nvPr/>
        </p:nvSpPr>
        <p:spPr>
          <a:xfrm>
            <a:off x="4839789" y="1969284"/>
            <a:ext cx="664028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5B43E4-AD16-BCDE-7DE5-FEDF9822DF24}"/>
              </a:ext>
            </a:extLst>
          </p:cNvPr>
          <p:cNvSpPr/>
          <p:nvPr/>
        </p:nvSpPr>
        <p:spPr>
          <a:xfrm>
            <a:off x="3577046" y="3351770"/>
            <a:ext cx="664028" cy="4789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*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403703-5475-89AA-0348-A77467616A2A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684417" y="2110799"/>
            <a:ext cx="2155372" cy="43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130BF9-596F-53E2-2152-28309A9809C9}"/>
              </a:ext>
            </a:extLst>
          </p:cNvPr>
          <p:cNvCxnSpPr>
            <a:endCxn id="7" idx="7"/>
          </p:cNvCxnSpPr>
          <p:nvPr/>
        </p:nvCxnSpPr>
        <p:spPr>
          <a:xfrm flipH="1">
            <a:off x="4143829" y="2338616"/>
            <a:ext cx="913674" cy="10832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EF15AD-7A52-F81A-E8E2-A9AD6E15F4FA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2444931" y="2252313"/>
            <a:ext cx="1229360" cy="1169601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BEE96AA-804E-E9E1-F777-EF18277B3243}"/>
              </a:ext>
            </a:extLst>
          </p:cNvPr>
          <p:cNvSpPr txBox="1"/>
          <p:nvPr/>
        </p:nvSpPr>
        <p:spPr>
          <a:xfrm>
            <a:off x="724625" y="1991251"/>
            <a:ext cx="1317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Router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2E1798-CD2B-2B22-5DBB-A63E02A47248}"/>
              </a:ext>
            </a:extLst>
          </p:cNvPr>
          <p:cNvSpPr txBox="1"/>
          <p:nvPr/>
        </p:nvSpPr>
        <p:spPr>
          <a:xfrm>
            <a:off x="5721531" y="1947708"/>
            <a:ext cx="1970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Router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0B462D-C36C-25E5-C628-E2F7D7E39BEB}"/>
              </a:ext>
            </a:extLst>
          </p:cNvPr>
          <p:cNvSpPr txBox="1"/>
          <p:nvPr/>
        </p:nvSpPr>
        <p:spPr>
          <a:xfrm>
            <a:off x="3505563" y="3874284"/>
            <a:ext cx="2373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Router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96BB07-909A-4C92-BEDA-FDAF3C417FF9}"/>
              </a:ext>
            </a:extLst>
          </p:cNvPr>
          <p:cNvSpPr/>
          <p:nvPr/>
        </p:nvSpPr>
        <p:spPr>
          <a:xfrm>
            <a:off x="2444931" y="1739902"/>
            <a:ext cx="478972" cy="163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BEBB3BC-334F-7A6D-0A4D-4AA1E2F50D90}"/>
              </a:ext>
            </a:extLst>
          </p:cNvPr>
          <p:cNvSpPr/>
          <p:nvPr/>
        </p:nvSpPr>
        <p:spPr>
          <a:xfrm>
            <a:off x="5057503" y="1739902"/>
            <a:ext cx="664028" cy="2078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752DE2-F039-253E-DD0A-8B7AED2D4B6E}"/>
              </a:ext>
            </a:extLst>
          </p:cNvPr>
          <p:cNvSpPr/>
          <p:nvPr/>
        </p:nvSpPr>
        <p:spPr>
          <a:xfrm>
            <a:off x="4382589" y="3351770"/>
            <a:ext cx="913674" cy="1967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004989-2397-0BB8-22D4-9589DFC85210}"/>
              </a:ext>
            </a:extLst>
          </p:cNvPr>
          <p:cNvCxnSpPr/>
          <p:nvPr/>
        </p:nvCxnSpPr>
        <p:spPr>
          <a:xfrm flipH="1">
            <a:off x="4915989" y="2360583"/>
            <a:ext cx="619760" cy="8387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D4AE5BB-AB23-3E71-957C-E1BF1784921F}"/>
              </a:ext>
            </a:extLst>
          </p:cNvPr>
          <p:cNvCxnSpPr/>
          <p:nvPr/>
        </p:nvCxnSpPr>
        <p:spPr>
          <a:xfrm>
            <a:off x="3076303" y="1739902"/>
            <a:ext cx="1839686" cy="769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39852B-A909-198E-476A-AB269239D679}"/>
              </a:ext>
            </a:extLst>
          </p:cNvPr>
          <p:cNvCxnSpPr/>
          <p:nvPr/>
        </p:nvCxnSpPr>
        <p:spPr>
          <a:xfrm flipH="1" flipV="1">
            <a:off x="2336074" y="2470027"/>
            <a:ext cx="947684" cy="9518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681631A-1CF3-584A-D7CC-D0E27C5E2481}"/>
              </a:ext>
            </a:extLst>
          </p:cNvPr>
          <p:cNvSpPr txBox="1"/>
          <p:nvPr/>
        </p:nvSpPr>
        <p:spPr>
          <a:xfrm>
            <a:off x="747475" y="4353388"/>
            <a:ext cx="918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TTL field is used to control the maximum number of hopes visited by datagram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10462E-2A43-C8E3-D845-E84F9CA95122}"/>
              </a:ext>
            </a:extLst>
          </p:cNvPr>
          <p:cNvSpPr txBox="1"/>
          <p:nvPr/>
        </p:nvSpPr>
        <p:spPr>
          <a:xfrm>
            <a:off x="757646" y="4821083"/>
            <a:ext cx="8784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 TTL value become 0 at the destination the ,Packet will be accepted , But if TTL value become 0 at Router then packet will be Discarded.</a:t>
            </a:r>
          </a:p>
          <a:p>
            <a:r>
              <a:rPr lang="en-IN" dirty="0"/>
              <a:t>Min TTL value in IPV4 is 1</a:t>
            </a:r>
          </a:p>
        </p:txBody>
      </p:sp>
    </p:spTree>
    <p:extLst>
      <p:ext uri="{BB962C8B-B14F-4D97-AF65-F5344CB8AC3E}">
        <p14:creationId xmlns:p14="http://schemas.microsoft.com/office/powerpoint/2010/main" val="1853176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BF0E-A87C-B318-CC56-05DA14AA5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47" y="406427"/>
            <a:ext cx="8596668" cy="968829"/>
          </a:xfrm>
        </p:spPr>
        <p:txBody>
          <a:bodyPr>
            <a:normAutofit/>
          </a:bodyPr>
          <a:lstStyle/>
          <a:p>
            <a:r>
              <a:rPr lang="en-IN" dirty="0"/>
              <a:t>Protocol(8bit)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99142-11FC-810C-7AE9-E833C77A9E67}"/>
              </a:ext>
            </a:extLst>
          </p:cNvPr>
          <p:cNvSpPr txBox="1"/>
          <p:nvPr/>
        </p:nvSpPr>
        <p:spPr>
          <a:xfrm>
            <a:off x="768095" y="1391194"/>
            <a:ext cx="7940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This 8 bit fields tell us which protocol is encapsulated in the IP Packet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44319-2E45-784A-879F-1F386BCF7E1D}"/>
              </a:ext>
            </a:extLst>
          </p:cNvPr>
          <p:cNvSpPr txBox="1"/>
          <p:nvPr/>
        </p:nvSpPr>
        <p:spPr>
          <a:xfrm>
            <a:off x="4223657" y="2120537"/>
            <a:ext cx="26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ICMP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35968D-B20C-79E3-FE95-A582A0BBC02B}"/>
              </a:ext>
            </a:extLst>
          </p:cNvPr>
          <p:cNvCxnSpPr/>
          <p:nvPr/>
        </p:nvCxnSpPr>
        <p:spPr>
          <a:xfrm>
            <a:off x="4523014" y="2403566"/>
            <a:ext cx="0" cy="60960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CA41F9E-E608-F615-C92C-2CD251431D90}"/>
              </a:ext>
            </a:extLst>
          </p:cNvPr>
          <p:cNvSpPr txBox="1"/>
          <p:nvPr/>
        </p:nvSpPr>
        <p:spPr>
          <a:xfrm>
            <a:off x="4310743" y="3013166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IGMP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323582-6D8F-177A-10CB-1E404C01B758}"/>
              </a:ext>
            </a:extLst>
          </p:cNvPr>
          <p:cNvCxnSpPr/>
          <p:nvPr/>
        </p:nvCxnSpPr>
        <p:spPr>
          <a:xfrm>
            <a:off x="4523014" y="3263537"/>
            <a:ext cx="0" cy="576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07AF5AB-1BA1-6D94-DD0F-ED4AE123948B}"/>
              </a:ext>
            </a:extLst>
          </p:cNvPr>
          <p:cNvSpPr txBox="1"/>
          <p:nvPr/>
        </p:nvSpPr>
        <p:spPr>
          <a:xfrm>
            <a:off x="4294414" y="3872356"/>
            <a:ext cx="631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UDP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24F280-D603-8241-6A1C-B8525F8A76A3}"/>
              </a:ext>
            </a:extLst>
          </p:cNvPr>
          <p:cNvCxnSpPr/>
          <p:nvPr/>
        </p:nvCxnSpPr>
        <p:spPr>
          <a:xfrm>
            <a:off x="4523014" y="4145280"/>
            <a:ext cx="0" cy="707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21749B-F7EC-B38A-249F-F9758DE9DD81}"/>
              </a:ext>
            </a:extLst>
          </p:cNvPr>
          <p:cNvSpPr txBox="1"/>
          <p:nvPr/>
        </p:nvSpPr>
        <p:spPr>
          <a:xfrm>
            <a:off x="4223657" y="4853243"/>
            <a:ext cx="849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TCP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0B0AEA-7EFF-2E3F-456E-712932832E52}"/>
              </a:ext>
            </a:extLst>
          </p:cNvPr>
          <p:cNvSpPr txBox="1"/>
          <p:nvPr/>
        </p:nvSpPr>
        <p:spPr>
          <a:xfrm>
            <a:off x="5148943" y="2218509"/>
            <a:ext cx="3744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Priority for </a:t>
            </a:r>
            <a:r>
              <a:rPr lang="en-IN" dirty="0" err="1"/>
              <a:t>Descarding</a:t>
            </a:r>
            <a:r>
              <a:rPr lang="en-IN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C20589-9432-E466-9EA2-E32C3807AD1D}"/>
              </a:ext>
            </a:extLst>
          </p:cNvPr>
          <p:cNvSpPr txBox="1"/>
          <p:nvPr/>
        </p:nvSpPr>
        <p:spPr>
          <a:xfrm>
            <a:off x="5236028" y="2893423"/>
            <a:ext cx="2862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Priority for </a:t>
            </a:r>
            <a:r>
              <a:rPr lang="en-IN" dirty="0" err="1"/>
              <a:t>Descarding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ECB550-C67C-91BF-BD7F-2BD27377E222}"/>
              </a:ext>
            </a:extLst>
          </p:cNvPr>
          <p:cNvSpPr txBox="1"/>
          <p:nvPr/>
        </p:nvSpPr>
        <p:spPr>
          <a:xfrm>
            <a:off x="5312229" y="3872356"/>
            <a:ext cx="2862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  <a:r>
              <a:rPr lang="en-IN" baseline="30000" dirty="0"/>
              <a:t>rd</a:t>
            </a:r>
            <a:r>
              <a:rPr lang="en-IN" dirty="0"/>
              <a:t> </a:t>
            </a:r>
            <a:r>
              <a:rPr lang="en-IN" dirty="0" err="1"/>
              <a:t>Prority</a:t>
            </a:r>
            <a:r>
              <a:rPr lang="en-IN" dirty="0"/>
              <a:t> for </a:t>
            </a:r>
            <a:r>
              <a:rPr lang="en-IN" dirty="0" err="1"/>
              <a:t>Descarding</a:t>
            </a:r>
            <a:r>
              <a:rPr lang="en-IN" dirty="0"/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44832D-32E6-FFC8-C88E-3584D6E79AB2}"/>
              </a:ext>
            </a:extLst>
          </p:cNvPr>
          <p:cNvSpPr txBox="1"/>
          <p:nvPr/>
        </p:nvSpPr>
        <p:spPr>
          <a:xfrm>
            <a:off x="5372097" y="4793762"/>
            <a:ext cx="2862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Last Priority </a:t>
            </a:r>
          </a:p>
        </p:txBody>
      </p:sp>
    </p:spTree>
    <p:extLst>
      <p:ext uri="{BB962C8B-B14F-4D97-AF65-F5344CB8AC3E}">
        <p14:creationId xmlns:p14="http://schemas.microsoft.com/office/powerpoint/2010/main" val="192558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78CF8-CD6F-C55C-A278-52C5C4ADA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Transport Layer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D196B-24AA-6217-022F-50219E6D8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3081"/>
            <a:ext cx="8596668" cy="4258282"/>
          </a:xfrm>
        </p:spPr>
        <p:txBody>
          <a:bodyPr>
            <a:normAutofit/>
          </a:bodyPr>
          <a:lstStyle/>
          <a:p>
            <a:r>
              <a:rPr lang="en-IN" sz="2000" dirty="0"/>
              <a:t>Here two Protocol works  UDP , TCP</a:t>
            </a:r>
          </a:p>
          <a:p>
            <a:r>
              <a:rPr lang="en-IN" sz="2000" dirty="0"/>
              <a:t>For large Segments we use TCP </a:t>
            </a:r>
          </a:p>
          <a:p>
            <a:r>
              <a:rPr lang="en-IN" sz="2000" dirty="0"/>
              <a:t>For small Segments we use UDP</a:t>
            </a:r>
          </a:p>
          <a:p>
            <a:r>
              <a:rPr lang="en-IN" sz="2000" dirty="0"/>
              <a:t>Segmentation &amp; reassembly always done at transport layer.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121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2546F-A01E-F80E-01A3-E14C9ACB8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UDP frame </a:t>
            </a:r>
            <a:r>
              <a:rPr lang="en-IN" b="1" dirty="0" err="1"/>
              <a:t>formet</a:t>
            </a:r>
            <a:endParaRPr lang="en-IN" b="1" dirty="0"/>
          </a:p>
        </p:txBody>
      </p:sp>
      <p:pic>
        <p:nvPicPr>
          <p:cNvPr id="1026" name="Picture 2" descr="Examples on UDP Header - GeeksforGeeks">
            <a:extLst>
              <a:ext uri="{FF2B5EF4-FFF2-40B4-BE49-F238E27FC236}">
                <a16:creationId xmlns:a16="http://schemas.microsoft.com/office/drawing/2014/main" id="{4C48942E-8E58-EAA9-CE78-A8BE1E002D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8" y="1455575"/>
            <a:ext cx="6743918" cy="413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79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B061-3E71-1A78-D5AC-D66C0874C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326" y="452718"/>
            <a:ext cx="8596668" cy="1320800"/>
          </a:xfrm>
        </p:spPr>
        <p:txBody>
          <a:bodyPr/>
          <a:lstStyle/>
          <a:p>
            <a:r>
              <a:rPr lang="en-IN" dirty="0"/>
              <a:t>TCP</a:t>
            </a:r>
          </a:p>
        </p:txBody>
      </p:sp>
      <p:pic>
        <p:nvPicPr>
          <p:cNvPr id="2050" name="Picture 2" descr="Services and Segment structure in TCP - GeeksforGeeks">
            <a:extLst>
              <a:ext uri="{FF2B5EF4-FFF2-40B4-BE49-F238E27FC236}">
                <a16:creationId xmlns:a16="http://schemas.microsoft.com/office/drawing/2014/main" id="{1CAA45D8-B0A3-8DAE-70D3-B5367B2F18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8448" y="1152144"/>
            <a:ext cx="7579085" cy="5349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151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EB476-182E-BB6D-35F1-4A69C50A2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60705"/>
            <a:ext cx="8596668" cy="4980658"/>
          </a:xfrm>
        </p:spPr>
        <p:txBody>
          <a:bodyPr>
            <a:normAutofit/>
          </a:bodyPr>
          <a:lstStyle/>
          <a:p>
            <a:r>
              <a:rPr lang="en-IN" sz="2400" dirty="0"/>
              <a:t>TCP is Connection Full Duplex .</a:t>
            </a:r>
          </a:p>
          <a:p>
            <a:r>
              <a:rPr lang="en-IN" sz="2400" dirty="0"/>
              <a:t>TCP is Connection Oriented.</a:t>
            </a:r>
          </a:p>
          <a:p>
            <a:r>
              <a:rPr lang="en-IN" sz="2400" dirty="0"/>
              <a:t>TCP is a byte Stream Protocol , that every byte associated with Sequence number.</a:t>
            </a:r>
          </a:p>
          <a:p>
            <a:r>
              <a:rPr lang="en-IN" sz="2400" dirty="0"/>
              <a:t>TCP uses the combination of GBN and SR</a:t>
            </a:r>
          </a:p>
          <a:p>
            <a:r>
              <a:rPr lang="en-IN" sz="2400" dirty="0"/>
              <a:t>TCP uses sliding window protocol for its flow Control.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5569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5D006-4E31-187A-B072-E51F3A80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TCP phases to send the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1A7EE-0F9F-57AD-5232-4BD60920A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9345"/>
            <a:ext cx="8596668" cy="44320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TCP has three Phases –</a:t>
            </a:r>
          </a:p>
          <a:p>
            <a:r>
              <a:rPr lang="en-IN" sz="2400" dirty="0"/>
              <a:t>Connection Establishment </a:t>
            </a:r>
          </a:p>
          <a:p>
            <a:r>
              <a:rPr lang="en-IN" sz="2400" dirty="0"/>
              <a:t>Data transfer </a:t>
            </a:r>
          </a:p>
          <a:p>
            <a:r>
              <a:rPr lang="en-IN" sz="2400" dirty="0"/>
              <a:t>Connection termination</a:t>
            </a:r>
          </a:p>
        </p:txBody>
      </p:sp>
    </p:spTree>
    <p:extLst>
      <p:ext uri="{BB962C8B-B14F-4D97-AF65-F5344CB8AC3E}">
        <p14:creationId xmlns:p14="http://schemas.microsoft.com/office/powerpoint/2010/main" val="180804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99715-E50F-1EE6-37A6-2FD823236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TCP uses Sliding window Protocol for flow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29D1F-1EC2-D58E-1A67-6972A42F8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Each TCP connection has 4 windows</a:t>
            </a:r>
          </a:p>
          <a:p>
            <a:r>
              <a:rPr lang="en-IN" sz="2000" dirty="0"/>
              <a:t>Sending Window at Sender </a:t>
            </a:r>
          </a:p>
          <a:p>
            <a:r>
              <a:rPr lang="en-IN" sz="2000" dirty="0"/>
              <a:t>Sending Window at Receiver</a:t>
            </a:r>
          </a:p>
          <a:p>
            <a:r>
              <a:rPr lang="en-IN" sz="2000" dirty="0"/>
              <a:t>Receiving window at Sender.</a:t>
            </a:r>
          </a:p>
          <a:p>
            <a:r>
              <a:rPr lang="en-IN" sz="2000" dirty="0"/>
              <a:t>Receiving window at Receiver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5229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58493-5066-5892-0BED-568ACB56B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60" y="1331259"/>
            <a:ext cx="11521439" cy="5526741"/>
          </a:xfrm>
        </p:spPr>
        <p:txBody>
          <a:bodyPr>
            <a:normAutofit/>
          </a:bodyPr>
          <a:lstStyle/>
          <a:p>
            <a:r>
              <a:rPr lang="en-IN" sz="2000" dirty="0"/>
              <a:t>In TCP we have 6 bit Flags</a:t>
            </a:r>
          </a:p>
          <a:p>
            <a:r>
              <a:rPr lang="en-IN" sz="2000" dirty="0"/>
              <a:t>Urgent Flag(URG) –</a:t>
            </a:r>
          </a:p>
          <a:p>
            <a:r>
              <a:rPr lang="en-IN" sz="2000" dirty="0"/>
              <a:t>Acknowledgement Flag(ACK) –It is used in Connection establishment phase</a:t>
            </a:r>
          </a:p>
          <a:p>
            <a:r>
              <a:rPr lang="en-IN" sz="2000" dirty="0"/>
              <a:t>Push Flag(PSH) – it is used to push the urgent bits to upper layer or lower layer</a:t>
            </a:r>
          </a:p>
          <a:p>
            <a:r>
              <a:rPr lang="en-IN" sz="2000" dirty="0"/>
              <a:t>Synchronization Flag(SYN)– It is used in Connection establishment Phase.</a:t>
            </a:r>
          </a:p>
          <a:p>
            <a:r>
              <a:rPr lang="en-IN" sz="2000" dirty="0"/>
              <a:t>Finished Flag(FIN) – Fin is used for Connection Termination.</a:t>
            </a:r>
          </a:p>
          <a:p>
            <a:r>
              <a:rPr lang="en-IN" sz="2000" dirty="0"/>
              <a:t>Reset Flag(RST) –</a:t>
            </a:r>
          </a:p>
          <a:p>
            <a:r>
              <a:rPr lang="en-IN" sz="2000" dirty="0"/>
              <a:t>SYN and ACK flag are used in Connection establishment Phase.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91998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dapting TCP for the Bridge Architecture | Springer Nature Link">
            <a:extLst>
              <a:ext uri="{FF2B5EF4-FFF2-40B4-BE49-F238E27FC236}">
                <a16:creationId xmlns:a16="http://schemas.microsoft.com/office/drawing/2014/main" id="{F828EB2A-0B22-2396-04B8-B48707F934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85" y="206829"/>
            <a:ext cx="6716485" cy="652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649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CB452-E5D2-A1B5-2E5D-FC9617FB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Connection</a:t>
            </a:r>
            <a:r>
              <a:rPr lang="en-IN" dirty="0"/>
              <a:t> </a:t>
            </a:r>
            <a:r>
              <a:rPr lang="en-IN" b="1" dirty="0"/>
              <a:t>Establishment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EDB9-1743-3963-58F5-2BCF08F7D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99411"/>
            <a:ext cx="8946541" cy="5129989"/>
          </a:xfrm>
        </p:spPr>
        <p:txBody>
          <a:bodyPr>
            <a:normAutofit/>
          </a:bodyPr>
          <a:lstStyle/>
          <a:p>
            <a:r>
              <a:rPr lang="en-IN" dirty="0"/>
              <a:t>Connection establishment is Three Way Handshake</a:t>
            </a:r>
          </a:p>
          <a:p>
            <a:r>
              <a:rPr lang="en-IN" dirty="0"/>
              <a:t> Connection Establishment Request(Sending Sequence number and SYN as 1)</a:t>
            </a:r>
          </a:p>
          <a:p>
            <a:r>
              <a:rPr lang="en-IN" dirty="0"/>
              <a:t>SEQ+ACK</a:t>
            </a:r>
          </a:p>
          <a:p>
            <a:r>
              <a:rPr lang="en-IN" dirty="0"/>
              <a:t>ACK</a:t>
            </a:r>
          </a:p>
          <a:p>
            <a:r>
              <a:rPr lang="en-IN" dirty="0"/>
              <a:t>SYN =1(Server will Understand that it is request for connection Establishment )</a:t>
            </a:r>
          </a:p>
          <a:p>
            <a:r>
              <a:rPr lang="en-IN" dirty="0"/>
              <a:t>SYN segment can't carry data, but it consume one Sequence no.</a:t>
            </a:r>
          </a:p>
          <a:p>
            <a:r>
              <a:rPr lang="en-IN" dirty="0"/>
              <a:t>SYN +ACK segment can’t carry data, but it consumes one </a:t>
            </a:r>
            <a:r>
              <a:rPr lang="en-IN" dirty="0" err="1"/>
              <a:t>seq</a:t>
            </a:r>
            <a:r>
              <a:rPr lang="en-IN" dirty="0"/>
              <a:t> number.</a:t>
            </a:r>
          </a:p>
          <a:p>
            <a:r>
              <a:rPr lang="en-IN" dirty="0"/>
              <a:t>ACK segment ,if carry no data ,then consume no </a:t>
            </a:r>
            <a:r>
              <a:rPr lang="en-IN" dirty="0" err="1"/>
              <a:t>seq</a:t>
            </a:r>
            <a:r>
              <a:rPr lang="en-IN" dirty="0"/>
              <a:t> number.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24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E018B4-5C91-773F-4822-04B29967D76B}"/>
              </a:ext>
            </a:extLst>
          </p:cNvPr>
          <p:cNvCxnSpPr/>
          <p:nvPr/>
        </p:nvCxnSpPr>
        <p:spPr>
          <a:xfrm>
            <a:off x="3363686" y="1001486"/>
            <a:ext cx="0" cy="4800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693DB1-119E-6521-431E-5E257ED2FD8C}"/>
              </a:ext>
            </a:extLst>
          </p:cNvPr>
          <p:cNvCxnSpPr/>
          <p:nvPr/>
        </p:nvCxnSpPr>
        <p:spPr>
          <a:xfrm>
            <a:off x="7467600" y="892629"/>
            <a:ext cx="0" cy="4909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803699-C463-50A5-B3C8-78B40C1AC589}"/>
              </a:ext>
            </a:extLst>
          </p:cNvPr>
          <p:cNvCxnSpPr/>
          <p:nvPr/>
        </p:nvCxnSpPr>
        <p:spPr>
          <a:xfrm>
            <a:off x="3363686" y="1611086"/>
            <a:ext cx="4180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E6EC003-0A30-DF44-27BD-DF0A9213286C}"/>
              </a:ext>
            </a:extLst>
          </p:cNvPr>
          <p:cNvCxnSpPr/>
          <p:nvPr/>
        </p:nvCxnSpPr>
        <p:spPr>
          <a:xfrm flipH="1">
            <a:off x="3363686" y="2362200"/>
            <a:ext cx="4103914" cy="1719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64D775-5B38-F278-D46C-D19EB775F3A2}"/>
              </a:ext>
            </a:extLst>
          </p:cNvPr>
          <p:cNvCxnSpPr/>
          <p:nvPr/>
        </p:nvCxnSpPr>
        <p:spPr>
          <a:xfrm>
            <a:off x="3363686" y="4974771"/>
            <a:ext cx="41039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32CFEE-2034-E113-C4D2-508AED873BF1}"/>
              </a:ext>
            </a:extLst>
          </p:cNvPr>
          <p:cNvSpPr txBox="1"/>
          <p:nvPr/>
        </p:nvSpPr>
        <p:spPr>
          <a:xfrm>
            <a:off x="3363685" y="1197481"/>
            <a:ext cx="4103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Seq</a:t>
            </a:r>
            <a:r>
              <a:rPr lang="en-IN" dirty="0"/>
              <a:t> No=1000 , SYN =1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180898-B0E5-3AC0-ACA9-5E4B93640B8A}"/>
              </a:ext>
            </a:extLst>
          </p:cNvPr>
          <p:cNvSpPr txBox="1"/>
          <p:nvPr/>
        </p:nvSpPr>
        <p:spPr>
          <a:xfrm>
            <a:off x="3363685" y="1611086"/>
            <a:ext cx="4027712" cy="369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MSS=1460 , window size=14600B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7397AF-D977-8875-2F9E-42423E696760}"/>
              </a:ext>
            </a:extLst>
          </p:cNvPr>
          <p:cNvSpPr txBox="1"/>
          <p:nvPr/>
        </p:nvSpPr>
        <p:spPr>
          <a:xfrm>
            <a:off x="3363685" y="2873829"/>
            <a:ext cx="1719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Seq</a:t>
            </a:r>
            <a:r>
              <a:rPr lang="en-IN" dirty="0"/>
              <a:t> no=2000</a:t>
            </a:r>
          </a:p>
          <a:p>
            <a:r>
              <a:rPr lang="en-IN" dirty="0"/>
              <a:t>SYN=1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762E02-9900-43EB-506D-24AA54A7FC48}"/>
              </a:ext>
            </a:extLst>
          </p:cNvPr>
          <p:cNvSpPr txBox="1"/>
          <p:nvPr/>
        </p:nvSpPr>
        <p:spPr>
          <a:xfrm>
            <a:off x="5083627" y="3429000"/>
            <a:ext cx="2307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Ack no=1001,MSS=500B,Ack=1,Window Size=10,000 Byte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5244C6-CA18-BD44-5FB0-9DB744D0DD49}"/>
              </a:ext>
            </a:extLst>
          </p:cNvPr>
          <p:cNvSpPr txBox="1"/>
          <p:nvPr/>
        </p:nvSpPr>
        <p:spPr>
          <a:xfrm>
            <a:off x="3450771" y="4629329"/>
            <a:ext cx="401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Seq</a:t>
            </a:r>
            <a:r>
              <a:rPr lang="en-IN" dirty="0"/>
              <a:t> no=1001 , Ack =1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C305E3-D046-B959-195D-B20397BEB060}"/>
              </a:ext>
            </a:extLst>
          </p:cNvPr>
          <p:cNvSpPr txBox="1"/>
          <p:nvPr/>
        </p:nvSpPr>
        <p:spPr>
          <a:xfrm>
            <a:off x="3363685" y="4974771"/>
            <a:ext cx="410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Ack no=2001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BD9E70-E516-A99D-1C64-33AB8550C5C9}"/>
              </a:ext>
            </a:extLst>
          </p:cNvPr>
          <p:cNvSpPr txBox="1"/>
          <p:nvPr/>
        </p:nvSpPr>
        <p:spPr>
          <a:xfrm>
            <a:off x="3004457" y="566096"/>
            <a:ext cx="132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Client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71D276-B1D9-2662-D92E-D4911D4D4FBF}"/>
              </a:ext>
            </a:extLst>
          </p:cNvPr>
          <p:cNvSpPr txBox="1"/>
          <p:nvPr/>
        </p:nvSpPr>
        <p:spPr>
          <a:xfrm>
            <a:off x="7032171" y="413657"/>
            <a:ext cx="990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Server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5577F1-D6D2-5DC2-DC98-462F5FBB0269}"/>
              </a:ext>
            </a:extLst>
          </p:cNvPr>
          <p:cNvSpPr txBox="1"/>
          <p:nvPr/>
        </p:nvSpPr>
        <p:spPr>
          <a:xfrm>
            <a:off x="2307773" y="1566813"/>
            <a:ext cx="1915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Request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A8C9ED-655B-E1A4-D646-BD5C7A738D67}"/>
              </a:ext>
            </a:extLst>
          </p:cNvPr>
          <p:cNvSpPr txBox="1"/>
          <p:nvPr/>
        </p:nvSpPr>
        <p:spPr>
          <a:xfrm>
            <a:off x="7527470" y="2362200"/>
            <a:ext cx="1649183" cy="369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Reply</a:t>
            </a:r>
          </a:p>
        </p:txBody>
      </p:sp>
    </p:spTree>
    <p:extLst>
      <p:ext uri="{BB962C8B-B14F-4D97-AF65-F5344CB8AC3E}">
        <p14:creationId xmlns:p14="http://schemas.microsoft.com/office/powerpoint/2010/main" val="379248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833B-CCD8-089C-4869-FDF8B7A9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85057"/>
            <a:ext cx="9404723" cy="1668191"/>
          </a:xfrm>
        </p:spPr>
        <p:txBody>
          <a:bodyPr/>
          <a:lstStyle/>
          <a:p>
            <a:r>
              <a:rPr lang="en-IN" b="1" dirty="0"/>
              <a:t>Data Transfer Phase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6AEF9C-F5A6-4DF3-8225-B1EEE2AF3A88}"/>
              </a:ext>
            </a:extLst>
          </p:cNvPr>
          <p:cNvCxnSpPr/>
          <p:nvPr/>
        </p:nvCxnSpPr>
        <p:spPr>
          <a:xfrm>
            <a:off x="2917371" y="1524000"/>
            <a:ext cx="0" cy="426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0DC0A6-4EE8-7559-F08C-DBA3EE51FE8E}"/>
              </a:ext>
            </a:extLst>
          </p:cNvPr>
          <p:cNvCxnSpPr/>
          <p:nvPr/>
        </p:nvCxnSpPr>
        <p:spPr>
          <a:xfrm>
            <a:off x="6803571" y="1491343"/>
            <a:ext cx="0" cy="4191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285FE7-8FCA-FC0D-9296-9475DE1BA486}"/>
              </a:ext>
            </a:extLst>
          </p:cNvPr>
          <p:cNvCxnSpPr/>
          <p:nvPr/>
        </p:nvCxnSpPr>
        <p:spPr>
          <a:xfrm>
            <a:off x="2917371" y="2090057"/>
            <a:ext cx="38535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0F9C67-5B3A-9984-8DF1-9586DF144566}"/>
              </a:ext>
            </a:extLst>
          </p:cNvPr>
          <p:cNvCxnSpPr/>
          <p:nvPr/>
        </p:nvCxnSpPr>
        <p:spPr>
          <a:xfrm flipH="1">
            <a:off x="2917371" y="2862943"/>
            <a:ext cx="3886200" cy="1099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4DF9288-3C2C-F7C5-6AA6-5B951F626C44}"/>
              </a:ext>
            </a:extLst>
          </p:cNvPr>
          <p:cNvCxnSpPr/>
          <p:nvPr/>
        </p:nvCxnSpPr>
        <p:spPr>
          <a:xfrm flipV="1">
            <a:off x="2917371" y="4822371"/>
            <a:ext cx="3886200" cy="108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7548683-7A21-3CAC-A3ED-5A48BF675BB0}"/>
              </a:ext>
            </a:extLst>
          </p:cNvPr>
          <p:cNvSpPr txBox="1"/>
          <p:nvPr/>
        </p:nvSpPr>
        <p:spPr>
          <a:xfrm>
            <a:off x="2917371" y="1524000"/>
            <a:ext cx="3853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Seq</a:t>
            </a:r>
            <a:r>
              <a:rPr lang="en-IN" dirty="0"/>
              <a:t> no=1001,Ack=1,Ack no=2001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FB7D27-9761-244C-9BFF-0BC10AC7B205}"/>
              </a:ext>
            </a:extLst>
          </p:cNvPr>
          <p:cNvSpPr txBox="1"/>
          <p:nvPr/>
        </p:nvSpPr>
        <p:spPr>
          <a:xfrm>
            <a:off x="2917371" y="2862943"/>
            <a:ext cx="17090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Seq</a:t>
            </a:r>
            <a:r>
              <a:rPr lang="en-IN" dirty="0"/>
              <a:t> no =2001,Ack=1,   Ack no.=1001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AAEC39-4946-FF0C-0003-1E7EFF1C5A1A}"/>
              </a:ext>
            </a:extLst>
          </p:cNvPr>
          <p:cNvSpPr txBox="1"/>
          <p:nvPr/>
        </p:nvSpPr>
        <p:spPr>
          <a:xfrm>
            <a:off x="3004457" y="4354286"/>
            <a:ext cx="3766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Seq</a:t>
            </a:r>
            <a:r>
              <a:rPr lang="en-IN" dirty="0"/>
              <a:t> no=1101,Ack=1,Ack no=2101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71457D-DF14-799E-6566-94019DE51CB4}"/>
              </a:ext>
            </a:extLst>
          </p:cNvPr>
          <p:cNvSpPr txBox="1"/>
          <p:nvPr/>
        </p:nvSpPr>
        <p:spPr>
          <a:xfrm>
            <a:off x="195943" y="1491343"/>
            <a:ext cx="2634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1100 to 1001   </a:t>
            </a:r>
          </a:p>
          <a:p>
            <a:r>
              <a:rPr lang="en-IN" dirty="0"/>
              <a:t> [100 Bytes]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80A7BE-BF13-474D-E15C-0E6EC983E44E}"/>
              </a:ext>
            </a:extLst>
          </p:cNvPr>
          <p:cNvSpPr txBox="1"/>
          <p:nvPr/>
        </p:nvSpPr>
        <p:spPr>
          <a:xfrm>
            <a:off x="6901543" y="1524000"/>
            <a:ext cx="3004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2001 to 2100 </a:t>
            </a:r>
          </a:p>
          <a:p>
            <a:r>
              <a:rPr lang="en-IN" dirty="0"/>
              <a:t>[100 Bytes]</a:t>
            </a:r>
          </a:p>
        </p:txBody>
      </p:sp>
    </p:spTree>
    <p:extLst>
      <p:ext uri="{BB962C8B-B14F-4D97-AF65-F5344CB8AC3E}">
        <p14:creationId xmlns:p14="http://schemas.microsoft.com/office/powerpoint/2010/main" val="371536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882F-A261-D407-A04D-0055B19A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Connection Termination Phase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2DCA8-EE48-35D9-0161-0E1BC2211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7390" y="1926771"/>
            <a:ext cx="9081024" cy="49312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FIN flag is used in the Connection Termination Phase.</a:t>
            </a:r>
          </a:p>
          <a:p>
            <a:pPr marL="0" indent="0">
              <a:buNone/>
            </a:pPr>
            <a:r>
              <a:rPr lang="en-IN" sz="2400" dirty="0"/>
              <a:t>Connection termination Request (FIN =1) [Sender]</a:t>
            </a:r>
          </a:p>
          <a:p>
            <a:pPr marL="0" indent="0">
              <a:buNone/>
            </a:pPr>
            <a:r>
              <a:rPr lang="en-IN" sz="2400" dirty="0"/>
              <a:t>Received ACK [sender]</a:t>
            </a:r>
          </a:p>
          <a:p>
            <a:pPr marL="0" indent="0">
              <a:buNone/>
            </a:pPr>
            <a:r>
              <a:rPr lang="en-IN" sz="2400" dirty="0"/>
              <a:t>Connection termination request(FIN =1) [Receiver to sender]</a:t>
            </a:r>
          </a:p>
          <a:p>
            <a:pPr marL="0" indent="0">
              <a:buNone/>
            </a:pPr>
            <a:r>
              <a:rPr lang="en-IN" sz="2400" dirty="0"/>
              <a:t>Received ACK[Receiver]</a:t>
            </a:r>
          </a:p>
        </p:txBody>
      </p:sp>
    </p:spTree>
    <p:extLst>
      <p:ext uri="{BB962C8B-B14F-4D97-AF65-F5344CB8AC3E}">
        <p14:creationId xmlns:p14="http://schemas.microsoft.com/office/powerpoint/2010/main" val="899627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3FA6B-9394-DE19-F435-37835A17EF0A}"/>
              </a:ext>
            </a:extLst>
          </p:cNvPr>
          <p:cNvSpPr/>
          <p:nvPr/>
        </p:nvSpPr>
        <p:spPr>
          <a:xfrm>
            <a:off x="923979" y="2231571"/>
            <a:ext cx="1730829" cy="101237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Client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276662A-D843-ACB9-BDDA-27E734591D2B}"/>
              </a:ext>
            </a:extLst>
          </p:cNvPr>
          <p:cNvSpPr/>
          <p:nvPr/>
        </p:nvSpPr>
        <p:spPr>
          <a:xfrm>
            <a:off x="7009094" y="2329543"/>
            <a:ext cx="2046514" cy="101237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Server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C10C55-8F59-AF40-D5FA-1B19F9D17CAF}"/>
              </a:ext>
            </a:extLst>
          </p:cNvPr>
          <p:cNvCxnSpPr/>
          <p:nvPr/>
        </p:nvCxnSpPr>
        <p:spPr>
          <a:xfrm>
            <a:off x="2186722" y="2231571"/>
            <a:ext cx="5214257" cy="97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04ECF-0003-7AC8-9C05-88FF2D4086E0}"/>
              </a:ext>
            </a:extLst>
          </p:cNvPr>
          <p:cNvCxnSpPr/>
          <p:nvPr/>
        </p:nvCxnSpPr>
        <p:spPr>
          <a:xfrm flipH="1" flipV="1">
            <a:off x="2654808" y="2579914"/>
            <a:ext cx="4354286" cy="8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92856A-2230-0022-9783-B0016477550C}"/>
              </a:ext>
            </a:extLst>
          </p:cNvPr>
          <p:cNvCxnSpPr/>
          <p:nvPr/>
        </p:nvCxnSpPr>
        <p:spPr>
          <a:xfrm>
            <a:off x="2567722" y="297180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C74D07D-434F-73AC-F002-10685CD6B7B0}"/>
              </a:ext>
            </a:extLst>
          </p:cNvPr>
          <p:cNvCxnSpPr/>
          <p:nvPr/>
        </p:nvCxnSpPr>
        <p:spPr>
          <a:xfrm flipH="1" flipV="1">
            <a:off x="2567722" y="2960914"/>
            <a:ext cx="4441372" cy="97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7BA2752-93DB-74FB-C8AA-416B7EAFF3F0}"/>
              </a:ext>
            </a:extLst>
          </p:cNvPr>
          <p:cNvCxnSpPr/>
          <p:nvPr/>
        </p:nvCxnSpPr>
        <p:spPr>
          <a:xfrm>
            <a:off x="2186722" y="3156857"/>
            <a:ext cx="0" cy="8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D42A9B-6CC3-3CB0-B6F2-E40AB03053BE}"/>
              </a:ext>
            </a:extLst>
          </p:cNvPr>
          <p:cNvCxnSpPr/>
          <p:nvPr/>
        </p:nvCxnSpPr>
        <p:spPr>
          <a:xfrm>
            <a:off x="1903694" y="3243943"/>
            <a:ext cx="5758543" cy="97972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B1B7767-3DD1-D75E-A78B-79455DCF4226}"/>
              </a:ext>
            </a:extLst>
          </p:cNvPr>
          <p:cNvSpPr txBox="1"/>
          <p:nvPr/>
        </p:nvSpPr>
        <p:spPr>
          <a:xfrm>
            <a:off x="2186722" y="1698171"/>
            <a:ext cx="4822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Request(FIN =1)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7399E7-ECF6-62AB-05B8-8906D4479F6A}"/>
              </a:ext>
            </a:extLst>
          </p:cNvPr>
          <p:cNvSpPr txBox="1"/>
          <p:nvPr/>
        </p:nvSpPr>
        <p:spPr>
          <a:xfrm>
            <a:off x="5245608" y="2329543"/>
            <a:ext cx="1763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Reply(ACK)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6E516A-0C3D-8809-933D-787FD4A981AE}"/>
              </a:ext>
            </a:extLst>
          </p:cNvPr>
          <p:cNvSpPr txBox="1"/>
          <p:nvPr/>
        </p:nvSpPr>
        <p:spPr>
          <a:xfrm>
            <a:off x="5245608" y="2698875"/>
            <a:ext cx="1730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Request(FIN=1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12161E-8075-E8A5-F59B-D1775682267D}"/>
              </a:ext>
            </a:extLst>
          </p:cNvPr>
          <p:cNvSpPr txBox="1"/>
          <p:nvPr/>
        </p:nvSpPr>
        <p:spPr>
          <a:xfrm>
            <a:off x="2567722" y="2960914"/>
            <a:ext cx="193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Reply(ACK)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54B4DD-7079-15F7-C58A-D48A9C52CF50}"/>
              </a:ext>
            </a:extLst>
          </p:cNvPr>
          <p:cNvSpPr txBox="1"/>
          <p:nvPr/>
        </p:nvSpPr>
        <p:spPr>
          <a:xfrm>
            <a:off x="1032837" y="4059980"/>
            <a:ext cx="728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CONNECTION TERMINATION</a:t>
            </a:r>
          </a:p>
        </p:txBody>
      </p:sp>
    </p:spTree>
    <p:extLst>
      <p:ext uri="{BB962C8B-B14F-4D97-AF65-F5344CB8AC3E}">
        <p14:creationId xmlns:p14="http://schemas.microsoft.com/office/powerpoint/2010/main" val="9166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95191-E4B6-DB5C-B0BF-B6B9FF4B0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30" y="1444752"/>
            <a:ext cx="11027228" cy="5326162"/>
          </a:xfrm>
        </p:spPr>
        <p:txBody>
          <a:bodyPr>
            <a:normAutofit/>
          </a:bodyPr>
          <a:lstStyle/>
          <a:p>
            <a:r>
              <a:rPr lang="en-IN" sz="2000" dirty="0"/>
              <a:t>Push Flag = It says that u cannot store the data in buffer , </a:t>
            </a:r>
          </a:p>
          <a:p>
            <a:pPr marL="0" indent="0">
              <a:buNone/>
            </a:pPr>
            <a:r>
              <a:rPr lang="en-IN" sz="2000" dirty="0"/>
              <a:t>     Immediately u have to push the data to upper layer or lower layer .</a:t>
            </a:r>
          </a:p>
          <a:p>
            <a:r>
              <a:rPr lang="en-IN" sz="2000" dirty="0"/>
              <a:t>Urgent flag = It is used to indicate that which some Bytes are Urgent in the Data.</a:t>
            </a:r>
          </a:p>
          <a:p>
            <a:r>
              <a:rPr lang="en-IN" sz="2000" dirty="0"/>
              <a:t>Urgent Pointer = It defines , if the Urgent pointer is x then no of urgent Byte is x+1.</a:t>
            </a:r>
          </a:p>
          <a:p>
            <a:r>
              <a:rPr lang="en-IN" sz="2000" dirty="0"/>
              <a:t>Last Urgent byte = Urgent pointer value  + sequence no </a:t>
            </a:r>
          </a:p>
          <a:p>
            <a:r>
              <a:rPr lang="en-IN" sz="2000" dirty="0"/>
              <a:t>TCP checksum is used for error Detection.</a:t>
            </a:r>
          </a:p>
          <a:p>
            <a:r>
              <a:rPr lang="en-IN" sz="2000" dirty="0"/>
              <a:t>TCP checksum is computed for both header and data but in IP checksum only </a:t>
            </a:r>
          </a:p>
          <a:p>
            <a:pPr marL="0" indent="0">
              <a:buNone/>
            </a:pPr>
            <a:r>
              <a:rPr lang="en-IN" sz="2000" dirty="0"/>
              <a:t>      computer at header part.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3897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92E67-7DF9-A908-8965-099DF3B81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Window Size or Advertising window 16bit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763B1-4C20-56F2-79CF-953CF8E76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It is Used for flow Control </a:t>
            </a:r>
          </a:p>
          <a:p>
            <a:r>
              <a:rPr lang="en-IN" sz="2000" dirty="0"/>
              <a:t>TCP is full duplex connection ,Server can send data to client , Client can send data to Server.</a:t>
            </a:r>
          </a:p>
          <a:p>
            <a:r>
              <a:rPr lang="en-IN" sz="2000" dirty="0"/>
              <a:t>First we have to establish the connection (three way handshaking)</a:t>
            </a:r>
          </a:p>
        </p:txBody>
      </p:sp>
    </p:spTree>
    <p:extLst>
      <p:ext uri="{BB962C8B-B14F-4D97-AF65-F5344CB8AC3E}">
        <p14:creationId xmlns:p14="http://schemas.microsoft.com/office/powerpoint/2010/main" val="396308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9C24F7-C637-F591-29ED-D88563ED34CC}"/>
              </a:ext>
            </a:extLst>
          </p:cNvPr>
          <p:cNvCxnSpPr/>
          <p:nvPr/>
        </p:nvCxnSpPr>
        <p:spPr>
          <a:xfrm>
            <a:off x="3363686" y="359229"/>
            <a:ext cx="0" cy="6422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2E384A-C019-389B-64DB-71579D3C318F}"/>
              </a:ext>
            </a:extLst>
          </p:cNvPr>
          <p:cNvCxnSpPr/>
          <p:nvPr/>
        </p:nvCxnSpPr>
        <p:spPr>
          <a:xfrm>
            <a:off x="6629400" y="391886"/>
            <a:ext cx="0" cy="64661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35CFD3-1246-E23F-2BCC-AA62B2BB2040}"/>
              </a:ext>
            </a:extLst>
          </p:cNvPr>
          <p:cNvCxnSpPr/>
          <p:nvPr/>
        </p:nvCxnSpPr>
        <p:spPr>
          <a:xfrm>
            <a:off x="3363686" y="794657"/>
            <a:ext cx="32330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7C4B86-9221-B6D5-58E9-24398BA2796A}"/>
              </a:ext>
            </a:extLst>
          </p:cNvPr>
          <p:cNvCxnSpPr/>
          <p:nvPr/>
        </p:nvCxnSpPr>
        <p:spPr>
          <a:xfrm flipH="1">
            <a:off x="3363686" y="1045029"/>
            <a:ext cx="3265714" cy="653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6B49BDF-EF64-4DA6-0334-DA849A7E2853}"/>
              </a:ext>
            </a:extLst>
          </p:cNvPr>
          <p:cNvCxnSpPr/>
          <p:nvPr/>
        </p:nvCxnSpPr>
        <p:spPr>
          <a:xfrm>
            <a:off x="3363686" y="1948543"/>
            <a:ext cx="3233057" cy="587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DB040E-16E6-C7FB-4F80-534E76D14F32}"/>
              </a:ext>
            </a:extLst>
          </p:cNvPr>
          <p:cNvCxnSpPr/>
          <p:nvPr/>
        </p:nvCxnSpPr>
        <p:spPr>
          <a:xfrm>
            <a:off x="3363686" y="3309257"/>
            <a:ext cx="32657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FBAFB5D-F9C9-031E-D295-94EA588DFB20}"/>
              </a:ext>
            </a:extLst>
          </p:cNvPr>
          <p:cNvCxnSpPr/>
          <p:nvPr/>
        </p:nvCxnSpPr>
        <p:spPr>
          <a:xfrm flipH="1">
            <a:off x="3254829" y="3559629"/>
            <a:ext cx="3374571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D2546B-B815-1EB8-D666-858BD7F26E4E}"/>
              </a:ext>
            </a:extLst>
          </p:cNvPr>
          <p:cNvCxnSpPr/>
          <p:nvPr/>
        </p:nvCxnSpPr>
        <p:spPr>
          <a:xfrm>
            <a:off x="3363686" y="4452257"/>
            <a:ext cx="32330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888507E-29F3-8E67-D13A-0D7B18C95F98}"/>
              </a:ext>
            </a:extLst>
          </p:cNvPr>
          <p:cNvCxnSpPr/>
          <p:nvPr/>
        </p:nvCxnSpPr>
        <p:spPr>
          <a:xfrm flipH="1">
            <a:off x="3363686" y="4680857"/>
            <a:ext cx="3233057" cy="598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A9569CC-DE0A-21C7-5C4E-B5CE8755405F}"/>
              </a:ext>
            </a:extLst>
          </p:cNvPr>
          <p:cNvCxnSpPr/>
          <p:nvPr/>
        </p:nvCxnSpPr>
        <p:spPr>
          <a:xfrm>
            <a:off x="3363686" y="5562600"/>
            <a:ext cx="3265714" cy="119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642209-D70F-DC79-A11F-1DF0E6574491}"/>
              </a:ext>
            </a:extLst>
          </p:cNvPr>
          <p:cNvCxnSpPr/>
          <p:nvPr/>
        </p:nvCxnSpPr>
        <p:spPr>
          <a:xfrm flipH="1">
            <a:off x="3363686" y="5965371"/>
            <a:ext cx="3265714" cy="544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73DEDF6-039A-E505-5FE1-95B81CC98E94}"/>
              </a:ext>
            </a:extLst>
          </p:cNvPr>
          <p:cNvSpPr txBox="1"/>
          <p:nvPr/>
        </p:nvSpPr>
        <p:spPr>
          <a:xfrm>
            <a:off x="3526971" y="391886"/>
            <a:ext cx="2645225" cy="370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REQUEST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0EE97A-5D61-D53D-4D37-79D5E03C2D33}"/>
              </a:ext>
            </a:extLst>
          </p:cNvPr>
          <p:cNvSpPr txBox="1"/>
          <p:nvPr/>
        </p:nvSpPr>
        <p:spPr>
          <a:xfrm>
            <a:off x="4256323" y="1088572"/>
            <a:ext cx="1839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REPLY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9DB5A5-30B4-3AFC-F688-87AB35143A17}"/>
              </a:ext>
            </a:extLst>
          </p:cNvPr>
          <p:cNvSpPr txBox="1"/>
          <p:nvPr/>
        </p:nvSpPr>
        <p:spPr>
          <a:xfrm>
            <a:off x="4996543" y="1360324"/>
            <a:ext cx="1589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Adv window=1000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79D974-525A-9019-DDBE-12AC687868ED}"/>
              </a:ext>
            </a:extLst>
          </p:cNvPr>
          <p:cNvSpPr txBox="1"/>
          <p:nvPr/>
        </p:nvSpPr>
        <p:spPr>
          <a:xfrm>
            <a:off x="6825343" y="1088572"/>
            <a:ext cx="2122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1000 Bytes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4A4F5A-8522-69F0-4C63-6F73756AEA37}"/>
              </a:ext>
            </a:extLst>
          </p:cNvPr>
          <p:cNvSpPr/>
          <p:nvPr/>
        </p:nvSpPr>
        <p:spPr>
          <a:xfrm>
            <a:off x="6825343" y="794657"/>
            <a:ext cx="1632851" cy="2503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2A755F-A87B-3AD3-5114-1D6317E0EE5E}"/>
              </a:ext>
            </a:extLst>
          </p:cNvPr>
          <p:cNvSpPr txBox="1"/>
          <p:nvPr/>
        </p:nvSpPr>
        <p:spPr>
          <a:xfrm>
            <a:off x="3929743" y="1796143"/>
            <a:ext cx="1023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A30A6-F129-C15C-D5FB-7440B4624E2A}"/>
              </a:ext>
            </a:extLst>
          </p:cNvPr>
          <p:cNvSpPr txBox="1"/>
          <p:nvPr/>
        </p:nvSpPr>
        <p:spPr>
          <a:xfrm>
            <a:off x="3287483" y="2982686"/>
            <a:ext cx="288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= 400 Bytes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527E74-220F-AD7A-ABAB-A458C2350BE6}"/>
              </a:ext>
            </a:extLst>
          </p:cNvPr>
          <p:cNvSpPr/>
          <p:nvPr/>
        </p:nvSpPr>
        <p:spPr>
          <a:xfrm>
            <a:off x="6825343" y="3167352"/>
            <a:ext cx="250371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400 Bytes   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7F51C5F-A273-2E45-30C9-F136F0856952}"/>
              </a:ext>
            </a:extLst>
          </p:cNvPr>
          <p:cNvCxnSpPr>
            <a:stCxn id="35" idx="0"/>
            <a:endCxn id="35" idx="2"/>
          </p:cNvCxnSpPr>
          <p:nvPr/>
        </p:nvCxnSpPr>
        <p:spPr>
          <a:xfrm>
            <a:off x="8077200" y="3167352"/>
            <a:ext cx="0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0293284-A4FB-C061-AFFF-1F85602FF0CF}"/>
              </a:ext>
            </a:extLst>
          </p:cNvPr>
          <p:cNvSpPr txBox="1"/>
          <p:nvPr/>
        </p:nvSpPr>
        <p:spPr>
          <a:xfrm>
            <a:off x="8077200" y="3559629"/>
            <a:ext cx="1328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600 bytes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72960F-DE1A-FD65-D2FA-D7C13DD31A50}"/>
              </a:ext>
            </a:extLst>
          </p:cNvPr>
          <p:cNvSpPr txBox="1"/>
          <p:nvPr/>
        </p:nvSpPr>
        <p:spPr>
          <a:xfrm>
            <a:off x="3418125" y="3526582"/>
            <a:ext cx="1937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Adv window=600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F5777E-EA6F-119E-DF48-E576106D8A65}"/>
              </a:ext>
            </a:extLst>
          </p:cNvPr>
          <p:cNvSpPr txBox="1"/>
          <p:nvPr/>
        </p:nvSpPr>
        <p:spPr>
          <a:xfrm>
            <a:off x="3635829" y="4093029"/>
            <a:ext cx="2460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= 500 Bytes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1141FA-D6AD-D952-E18D-195ECA3D5961}"/>
              </a:ext>
            </a:extLst>
          </p:cNvPr>
          <p:cNvSpPr/>
          <p:nvPr/>
        </p:nvSpPr>
        <p:spPr>
          <a:xfrm>
            <a:off x="6727371" y="4267200"/>
            <a:ext cx="313508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400 B   500 B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CA85165-39D9-BC24-A9FA-6A17AB5D8DEF}"/>
              </a:ext>
            </a:extLst>
          </p:cNvPr>
          <p:cNvCxnSpPr/>
          <p:nvPr/>
        </p:nvCxnSpPr>
        <p:spPr>
          <a:xfrm>
            <a:off x="7511143" y="4267200"/>
            <a:ext cx="0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CE5FAC-CB21-5168-4837-B42C18EBDBDA}"/>
              </a:ext>
            </a:extLst>
          </p:cNvPr>
          <p:cNvCxnSpPr/>
          <p:nvPr/>
        </p:nvCxnSpPr>
        <p:spPr>
          <a:xfrm>
            <a:off x="8708571" y="4267200"/>
            <a:ext cx="0" cy="4136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324333B-47BB-69C9-5415-8F29536680FF}"/>
              </a:ext>
            </a:extLst>
          </p:cNvPr>
          <p:cNvSpPr txBox="1"/>
          <p:nvPr/>
        </p:nvSpPr>
        <p:spPr>
          <a:xfrm>
            <a:off x="8806543" y="4680857"/>
            <a:ext cx="1055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B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B6A64E-575A-4A49-9A86-ADA257C80A9B}"/>
              </a:ext>
            </a:extLst>
          </p:cNvPr>
          <p:cNvSpPr txBox="1"/>
          <p:nvPr/>
        </p:nvSpPr>
        <p:spPr>
          <a:xfrm>
            <a:off x="3418125" y="4680857"/>
            <a:ext cx="2329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Adv window =100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49FC5EF-4C87-53F9-91CC-83BAB40112D7}"/>
              </a:ext>
            </a:extLst>
          </p:cNvPr>
          <p:cNvSpPr txBox="1"/>
          <p:nvPr/>
        </p:nvSpPr>
        <p:spPr>
          <a:xfrm>
            <a:off x="3820886" y="5279571"/>
            <a:ext cx="2351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= 100 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A36DA2-DEFF-47D8-AB17-53EA0DD21A6E}"/>
              </a:ext>
            </a:extLst>
          </p:cNvPr>
          <p:cNvSpPr/>
          <p:nvPr/>
        </p:nvSpPr>
        <p:spPr>
          <a:xfrm>
            <a:off x="6727371" y="5562600"/>
            <a:ext cx="313507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400 B      500 B        100 B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09B3D8A-0A85-27C3-E0A3-749F31045103}"/>
              </a:ext>
            </a:extLst>
          </p:cNvPr>
          <p:cNvCxnSpPr/>
          <p:nvPr/>
        </p:nvCxnSpPr>
        <p:spPr>
          <a:xfrm>
            <a:off x="7663543" y="5562600"/>
            <a:ext cx="0" cy="3693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96430DB-FA47-0E25-68D3-3EADB818A084}"/>
              </a:ext>
            </a:extLst>
          </p:cNvPr>
          <p:cNvCxnSpPr/>
          <p:nvPr/>
        </p:nvCxnSpPr>
        <p:spPr>
          <a:xfrm>
            <a:off x="8806543" y="5562600"/>
            <a:ext cx="0" cy="4027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AB24709-94C5-AC7F-CA55-1DA393E886AA}"/>
              </a:ext>
            </a:extLst>
          </p:cNvPr>
          <p:cNvSpPr txBox="1"/>
          <p:nvPr/>
        </p:nvSpPr>
        <p:spPr>
          <a:xfrm>
            <a:off x="3418125" y="5931932"/>
            <a:ext cx="212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Adv window = 0B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850062-3959-9005-0885-0134350BBCB6}"/>
              </a:ext>
            </a:extLst>
          </p:cNvPr>
          <p:cNvSpPr txBox="1"/>
          <p:nvPr/>
        </p:nvSpPr>
        <p:spPr>
          <a:xfrm>
            <a:off x="3140529" y="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23FBF8-0395-B08E-D69A-AB7DAEE9097F}"/>
              </a:ext>
            </a:extLst>
          </p:cNvPr>
          <p:cNvSpPr txBox="1"/>
          <p:nvPr/>
        </p:nvSpPr>
        <p:spPr>
          <a:xfrm>
            <a:off x="6411680" y="0"/>
            <a:ext cx="990594" cy="368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393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613D2D-FF32-68EC-6A9A-83104069AD5A}"/>
              </a:ext>
            </a:extLst>
          </p:cNvPr>
          <p:cNvCxnSpPr/>
          <p:nvPr/>
        </p:nvCxnSpPr>
        <p:spPr>
          <a:xfrm>
            <a:off x="1012371" y="435429"/>
            <a:ext cx="0" cy="42998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F516DB-4C04-E6E0-4F61-5327FAF1DEA0}"/>
              </a:ext>
            </a:extLst>
          </p:cNvPr>
          <p:cNvCxnSpPr/>
          <p:nvPr/>
        </p:nvCxnSpPr>
        <p:spPr>
          <a:xfrm>
            <a:off x="3461657" y="402771"/>
            <a:ext cx="0" cy="43216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1BB5051-9DB9-8100-30A0-1B43AC4CF4D1}"/>
              </a:ext>
            </a:extLst>
          </p:cNvPr>
          <p:cNvCxnSpPr/>
          <p:nvPr/>
        </p:nvCxnSpPr>
        <p:spPr>
          <a:xfrm>
            <a:off x="674914" y="522514"/>
            <a:ext cx="0" cy="15893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112858-F97E-CA4B-1116-2E0B4F627A87}"/>
              </a:ext>
            </a:extLst>
          </p:cNvPr>
          <p:cNvCxnSpPr/>
          <p:nvPr/>
        </p:nvCxnSpPr>
        <p:spPr>
          <a:xfrm>
            <a:off x="642257" y="522514"/>
            <a:ext cx="3701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8967BC8-5E75-6A09-396A-DC5830BFF416}"/>
              </a:ext>
            </a:extLst>
          </p:cNvPr>
          <p:cNvCxnSpPr/>
          <p:nvPr/>
        </p:nvCxnSpPr>
        <p:spPr>
          <a:xfrm>
            <a:off x="674914" y="2111829"/>
            <a:ext cx="33745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2EAE61-2F48-BD59-8C42-D6C50C836615}"/>
              </a:ext>
            </a:extLst>
          </p:cNvPr>
          <p:cNvCxnSpPr/>
          <p:nvPr/>
        </p:nvCxnSpPr>
        <p:spPr>
          <a:xfrm flipH="1">
            <a:off x="1872343" y="609600"/>
            <a:ext cx="1589314" cy="653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FDE42BF-7B24-C1AC-61E3-A52CB376018F}"/>
              </a:ext>
            </a:extLst>
          </p:cNvPr>
          <p:cNvCxnSpPr/>
          <p:nvPr/>
        </p:nvCxnSpPr>
        <p:spPr>
          <a:xfrm>
            <a:off x="1012371" y="2111829"/>
            <a:ext cx="2449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BA024A5-5DE3-1893-E90A-84E2DB5B4FDE}"/>
              </a:ext>
            </a:extLst>
          </p:cNvPr>
          <p:cNvSpPr/>
          <p:nvPr/>
        </p:nvSpPr>
        <p:spPr>
          <a:xfrm>
            <a:off x="3646714" y="435429"/>
            <a:ext cx="3243941" cy="5116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            500 B         100 B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DAB6488-32EA-7533-D258-1E307ACEC410}"/>
              </a:ext>
            </a:extLst>
          </p:cNvPr>
          <p:cNvCxnSpPr/>
          <p:nvPr/>
        </p:nvCxnSpPr>
        <p:spPr>
          <a:xfrm>
            <a:off x="4528457" y="435429"/>
            <a:ext cx="0" cy="511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BD385A3-5FC5-F932-54D5-C28AD4B56A06}"/>
              </a:ext>
            </a:extLst>
          </p:cNvPr>
          <p:cNvCxnSpPr/>
          <p:nvPr/>
        </p:nvCxnSpPr>
        <p:spPr>
          <a:xfrm>
            <a:off x="5660571" y="435429"/>
            <a:ext cx="0" cy="5116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D554DAC-9F6E-5544-1B54-C4EEC27D013B}"/>
              </a:ext>
            </a:extLst>
          </p:cNvPr>
          <p:cNvSpPr txBox="1"/>
          <p:nvPr/>
        </p:nvSpPr>
        <p:spPr>
          <a:xfrm>
            <a:off x="3646714" y="947057"/>
            <a:ext cx="881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400 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0B0FCB-1C60-C0FC-E034-D2688DA3761E}"/>
              </a:ext>
            </a:extLst>
          </p:cNvPr>
          <p:cNvSpPr txBox="1"/>
          <p:nvPr/>
        </p:nvSpPr>
        <p:spPr>
          <a:xfrm>
            <a:off x="762000" y="0"/>
            <a:ext cx="522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4C63F9-9545-D81E-1DA4-44E1098AA770}"/>
              </a:ext>
            </a:extLst>
          </p:cNvPr>
          <p:cNvSpPr txBox="1"/>
          <p:nvPr/>
        </p:nvSpPr>
        <p:spPr>
          <a:xfrm>
            <a:off x="3211286" y="0"/>
            <a:ext cx="522508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CCBB6E-F82F-9297-3E6D-12F5F084A9FE}"/>
              </a:ext>
            </a:extLst>
          </p:cNvPr>
          <p:cNvSpPr txBox="1"/>
          <p:nvPr/>
        </p:nvSpPr>
        <p:spPr>
          <a:xfrm>
            <a:off x="1186543" y="1795752"/>
            <a:ext cx="2090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Probe Segment 1B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84993A-0C53-07B9-0562-60022B03A1A9}"/>
              </a:ext>
            </a:extLst>
          </p:cNvPr>
          <p:cNvSpPr txBox="1"/>
          <p:nvPr/>
        </p:nvSpPr>
        <p:spPr>
          <a:xfrm>
            <a:off x="3646714" y="1316389"/>
            <a:ext cx="594359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After Some Time , 400 Bytes of data get processed by the B and 400 portion in B’s buffer become Free.</a:t>
            </a:r>
          </a:p>
          <a:p>
            <a:r>
              <a:rPr lang="en-IN" sz="1600" dirty="0"/>
              <a:t>B sends a message to A and says my Advertising window is 400 B , but assumed this message got Lost</a:t>
            </a:r>
          </a:p>
          <a:p>
            <a:r>
              <a:rPr lang="en-IN" sz="1600" dirty="0"/>
              <a:t>A wait for B’s Adv window size </a:t>
            </a:r>
          </a:p>
          <a:p>
            <a:r>
              <a:rPr lang="en-IN" sz="1600" dirty="0"/>
              <a:t>B waits for A’s data </a:t>
            </a:r>
          </a:p>
          <a:p>
            <a:r>
              <a:rPr lang="en-IN" sz="1600" dirty="0"/>
              <a:t>Therefore ,Deadlock Arise</a:t>
            </a:r>
          </a:p>
          <a:p>
            <a:r>
              <a:rPr lang="en-IN" sz="1600" dirty="0"/>
              <a:t>This deadlock problem can be solved by Persistent Timer</a:t>
            </a:r>
          </a:p>
          <a:p>
            <a:r>
              <a:rPr lang="en-IN" sz="1600" dirty="0"/>
              <a:t>When ever Sender Receives adv window =0 , then Sender starts a Persistent Timer  and sends the data </a:t>
            </a:r>
          </a:p>
          <a:p>
            <a:r>
              <a:rPr lang="en-IN" sz="1600" dirty="0"/>
              <a:t>If the new Adv window size arrived by B within the persistent timer then no issue unless A will send the probe Segment , which is reminder to B that I haven't received the new </a:t>
            </a:r>
            <a:r>
              <a:rPr lang="en-IN" sz="1600" dirty="0" err="1"/>
              <a:t>Avd</a:t>
            </a:r>
            <a:r>
              <a:rPr lang="en-IN" sz="1600" dirty="0"/>
              <a:t> window Size , probe consumes 1 </a:t>
            </a:r>
            <a:r>
              <a:rPr lang="en-IN" sz="1600" dirty="0" err="1"/>
              <a:t>seq</a:t>
            </a:r>
            <a:r>
              <a:rPr lang="en-IN" sz="1600" dirty="0"/>
              <a:t> no</a:t>
            </a:r>
          </a:p>
          <a:p>
            <a:r>
              <a:rPr lang="en-IN" sz="1400" dirty="0"/>
              <a:t>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D4A2CB-6D42-A8ED-1586-7501B003D911}"/>
              </a:ext>
            </a:extLst>
          </p:cNvPr>
          <p:cNvSpPr txBox="1"/>
          <p:nvPr/>
        </p:nvSpPr>
        <p:spPr>
          <a:xfrm>
            <a:off x="1436906" y="391493"/>
            <a:ext cx="2090056" cy="38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Adv window = 400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ABF5DC3-07DC-F9A4-3C67-5AE47D33F6FB}"/>
              </a:ext>
            </a:extLst>
          </p:cNvPr>
          <p:cNvCxnSpPr/>
          <p:nvPr/>
        </p:nvCxnSpPr>
        <p:spPr>
          <a:xfrm>
            <a:off x="849086" y="2111829"/>
            <a:ext cx="0" cy="31895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D432085-1C7A-710B-3289-164509AFC599}"/>
              </a:ext>
            </a:extLst>
          </p:cNvPr>
          <p:cNvCxnSpPr/>
          <p:nvPr/>
        </p:nvCxnSpPr>
        <p:spPr>
          <a:xfrm>
            <a:off x="762000" y="5290457"/>
            <a:ext cx="7946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238EF3E-6A24-5C35-38D4-179D0B999DE5}"/>
              </a:ext>
            </a:extLst>
          </p:cNvPr>
          <p:cNvSpPr txBox="1"/>
          <p:nvPr/>
        </p:nvSpPr>
        <p:spPr>
          <a:xfrm>
            <a:off x="1730829" y="5071263"/>
            <a:ext cx="2656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Persistent Timer</a:t>
            </a:r>
          </a:p>
        </p:txBody>
      </p:sp>
    </p:spTree>
    <p:extLst>
      <p:ext uri="{BB962C8B-B14F-4D97-AF65-F5344CB8AC3E}">
        <p14:creationId xmlns:p14="http://schemas.microsoft.com/office/powerpoint/2010/main" val="1301161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9D17A0-7A42-325E-C172-DC4217F5D4C7}"/>
              </a:ext>
            </a:extLst>
          </p:cNvPr>
          <p:cNvSpPr txBox="1"/>
          <p:nvPr/>
        </p:nvSpPr>
        <p:spPr>
          <a:xfrm>
            <a:off x="3410712" y="2368296"/>
            <a:ext cx="43989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b="1" dirty="0">
                <a:solidFill>
                  <a:schemeClr val="accent1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347241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521</TotalTime>
  <Words>1978</Words>
  <Application>Microsoft Office PowerPoint</Application>
  <PresentationFormat>Widescreen</PresentationFormat>
  <Paragraphs>319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Trebuchet MS</vt:lpstr>
      <vt:lpstr>Wingdings</vt:lpstr>
      <vt:lpstr>Wingdings 3</vt:lpstr>
      <vt:lpstr>Facet</vt:lpstr>
      <vt:lpstr>Computer Networks IPv4 &amp; TCP – Conceptual Teaching Demo </vt:lpstr>
      <vt:lpstr>PowerPoint Presentation</vt:lpstr>
      <vt:lpstr>IPv4 Addressing </vt:lpstr>
      <vt:lpstr>Classfull Addressing </vt:lpstr>
      <vt:lpstr>Class A</vt:lpstr>
      <vt:lpstr>Class B</vt:lpstr>
      <vt:lpstr>Class C </vt:lpstr>
      <vt:lpstr>Identification Problem</vt:lpstr>
      <vt:lpstr>PowerPoint Presentation</vt:lpstr>
      <vt:lpstr>Types of Communication </vt:lpstr>
      <vt:lpstr>Broadcast Communication</vt:lpstr>
      <vt:lpstr>PowerPoint Presentation</vt:lpstr>
      <vt:lpstr>PowerPoint Presentation</vt:lpstr>
      <vt:lpstr>IPV4 Header(H2)</vt:lpstr>
      <vt:lpstr>Header Length(4bit)</vt:lpstr>
      <vt:lpstr>Services</vt:lpstr>
      <vt:lpstr>Total Length </vt:lpstr>
      <vt:lpstr>Identification Number (16 bit)</vt:lpstr>
      <vt:lpstr>Flags(3bit)</vt:lpstr>
      <vt:lpstr>Fragment Offset</vt:lpstr>
      <vt:lpstr>TTL(8bit)</vt:lpstr>
      <vt:lpstr>Protocol(8bit)</vt:lpstr>
      <vt:lpstr>Transport Layer </vt:lpstr>
      <vt:lpstr>UDP frame formet</vt:lpstr>
      <vt:lpstr>TCP</vt:lpstr>
      <vt:lpstr>PowerPoint Presentation</vt:lpstr>
      <vt:lpstr>TCP phases to send the data </vt:lpstr>
      <vt:lpstr>TCP uses Sliding window Protocol for flow control</vt:lpstr>
      <vt:lpstr>PowerPoint Presentation</vt:lpstr>
      <vt:lpstr>PowerPoint Presentation</vt:lpstr>
      <vt:lpstr>Connection Establishment</vt:lpstr>
      <vt:lpstr>PowerPoint Presentation</vt:lpstr>
      <vt:lpstr>Data Transfer Phase</vt:lpstr>
      <vt:lpstr>Connection Termination Phase </vt:lpstr>
      <vt:lpstr>PowerPoint Presentation</vt:lpstr>
      <vt:lpstr>PowerPoint Presentation</vt:lpstr>
      <vt:lpstr>Window Size or Advertising window 16bit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 mathur</dc:creator>
  <cp:lastModifiedBy>Richa mathur</cp:lastModifiedBy>
  <cp:revision>16</cp:revision>
  <dcterms:created xsi:type="dcterms:W3CDTF">2026-02-05T16:48:56Z</dcterms:created>
  <dcterms:modified xsi:type="dcterms:W3CDTF">2026-02-06T16:36:00Z</dcterms:modified>
</cp:coreProperties>
</file>